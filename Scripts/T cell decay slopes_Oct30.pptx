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9" r:id="rId2"/>
    <p:sldId id="257" r:id="rId3"/>
    <p:sldId id="271" r:id="rId4"/>
    <p:sldId id="267" r:id="rId5"/>
    <p:sldId id="258" r:id="rId6"/>
    <p:sldId id="266" r:id="rId7"/>
    <p:sldId id="268" r:id="rId8"/>
    <p:sldId id="269" r:id="rId9"/>
    <p:sldId id="272" r:id="rId10"/>
    <p:sldId id="273" r:id="rId11"/>
    <p:sldId id="274" r:id="rId12"/>
    <p:sldId id="275" r:id="rId13"/>
    <p:sldId id="278" r:id="rId14"/>
    <p:sldId id="276" r:id="rId15"/>
    <p:sldId id="277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000" autoAdjust="0"/>
    <p:restoredTop sz="94660"/>
  </p:normalViewPr>
  <p:slideViewPr>
    <p:cSldViewPr snapToGrid="0">
      <p:cViewPr>
        <p:scale>
          <a:sx n="75" d="100"/>
          <a:sy n="75" d="100"/>
        </p:scale>
        <p:origin x="1722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E2FC7-F7B1-2B83-7B2C-C3301B77A1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9477AC-326A-0BDF-4B02-66DE9CE332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1A5643-25DD-8B9E-F1DD-07061941E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3C8C7-CBCA-4667-931A-6DAEBDCEF4E5}" type="datetimeFigureOut">
              <a:rPr lang="en-AU" smtClean="0"/>
              <a:t>29/10/2026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BB1D20-07D1-A69C-DD55-D09DE6434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C4406E-3340-CAAC-3060-DACB6758F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AFBEC-5CA2-4B7B-867A-D5BED69CDD5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911556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223AE-3198-34F4-73C2-02B8A016CD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D45BFD-6312-A838-8D00-D6CBA8A3C6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D1D525-1294-0C3F-E165-5D53A7FA6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3C8C7-CBCA-4667-931A-6DAEBDCEF4E5}" type="datetimeFigureOut">
              <a:rPr lang="en-AU" smtClean="0"/>
              <a:t>29/10/2026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380C6B-9A82-70DF-9495-95B3EC6C1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20762B-8B5F-5FF2-51ED-EB1CFE870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AFBEC-5CA2-4B7B-867A-D5BED69CDD5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926047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F0B19-CFCB-213A-1F8F-E2AE20989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802992-25D2-02FE-2872-F46E910C4C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C6A4AC-8F11-C528-7DEB-AFC239372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3C8C7-CBCA-4667-931A-6DAEBDCEF4E5}" type="datetimeFigureOut">
              <a:rPr lang="en-AU" smtClean="0"/>
              <a:t>29/10/2026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48AC44-1F21-595A-0941-414BC9BC8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82B00F-9928-26FC-2C1D-C202C9391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AFBEC-5CA2-4B7B-867A-D5BED69CDD5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831622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BDD3E-253C-015D-5013-232581B00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3E82AB-BFA1-B653-A624-81DFB6FAB0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E40C46-5C53-33DF-4470-0E95607DD6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7AE1BF-5D19-1E75-29E3-F4931E8C98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3C8C7-CBCA-4667-931A-6DAEBDCEF4E5}" type="datetimeFigureOut">
              <a:rPr lang="en-AU" smtClean="0"/>
              <a:t>29/10/2026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693D43-A2B8-AE4B-C3B2-35FEABEF38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8DC42E-84CE-0EC7-B0C4-8D664D519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AFBEC-5CA2-4B7B-867A-D5BED69CDD5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545509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58191-1813-7A00-A6D5-7AA6A028F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24EFDF-2FCF-4225-CE80-AA0775A5B9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66E77D-D800-8700-430F-8532CFCDC0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C8A992-9B33-4CD0-C7C9-95BB9A3B70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A8C851-E178-7D27-1B66-1F184B8483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CFBEF8E-B6B0-D30F-2928-EECBFB297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3C8C7-CBCA-4667-931A-6DAEBDCEF4E5}" type="datetimeFigureOut">
              <a:rPr lang="en-AU" smtClean="0"/>
              <a:t>29/10/2026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A32C981-5BDB-1E53-73B1-452E0B3BB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1F7F39-0779-D050-CF26-AC3A58D8D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AFBEC-5CA2-4B7B-867A-D5BED69CDD5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774023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0D7B7-316B-4E3B-DB4A-4C9538957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B4CD06-718D-3CC1-4BA8-61BBD49DC4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3C8C7-CBCA-4667-931A-6DAEBDCEF4E5}" type="datetimeFigureOut">
              <a:rPr lang="en-AU" smtClean="0"/>
              <a:t>29/10/2026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81240A-FE60-3219-8896-3CF1BD8A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44BECF-9D39-CFD9-CDB2-F516243B2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AFBEC-5CA2-4B7B-867A-D5BED69CDD5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671895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9B3F05-3470-C11B-2FD9-F72DA0ECB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3C8C7-CBCA-4667-931A-6DAEBDCEF4E5}" type="datetimeFigureOut">
              <a:rPr lang="en-AU" smtClean="0"/>
              <a:t>29/10/2026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285D4B-6F9E-EAE5-EF71-3D09AE54C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965068-5D53-456D-50F2-D7C41BAC3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AFBEC-5CA2-4B7B-867A-D5BED69CDD5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091100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1D3F0-B5E7-5DAA-1E17-40900F445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D9E91A-3C95-B0A3-08E6-E3459BF377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B2319C-B70A-7FEB-A3F1-E16B95D28D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5876CA-D719-D2F4-7EE2-C8EDC8EF2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3C8C7-CBCA-4667-931A-6DAEBDCEF4E5}" type="datetimeFigureOut">
              <a:rPr lang="en-AU" smtClean="0"/>
              <a:t>29/10/2026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F3CFA7-61CB-0B8E-7EDD-B28C0D4D5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CCAF13-78FC-D82E-3847-B4F27AFD1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AFBEC-5CA2-4B7B-867A-D5BED69CDD5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006820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BF3A8-06B2-69B9-7380-7125F943F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6617CC-50E9-225B-1372-CC1A95F4E2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476948-A441-473D-B65D-D03C04F4B1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90634C-4A32-D006-721F-A867FB9D0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3C8C7-CBCA-4667-931A-6DAEBDCEF4E5}" type="datetimeFigureOut">
              <a:rPr lang="en-AU" smtClean="0"/>
              <a:t>29/10/2026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54ED3A-8F29-A2C3-4F13-360372551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500AF0-3E97-56AD-9762-4BBF25BF0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AFBEC-5CA2-4B7B-867A-D5BED69CDD5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41523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2EB31-17BC-329D-70AC-5E6071C39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279D39-398E-F48C-13F1-B488F7F9B6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6A8225-37EE-3A77-25C4-FFCBAEFED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3C8C7-CBCA-4667-931A-6DAEBDCEF4E5}" type="datetimeFigureOut">
              <a:rPr lang="en-AU" smtClean="0"/>
              <a:t>29/10/2026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960808-6556-E80E-186F-93BF04A0B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5165A6-BB3F-0327-62F4-C99D5847F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AFBEC-5CA2-4B7B-867A-D5BED69CDD5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82480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C641CA1-8886-DB45-6772-D2177F5EA4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977F45-3696-01C7-E85A-84B20CF9D3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4415B2-BDA9-2C88-D216-532E773ED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3C8C7-CBCA-4667-931A-6DAEBDCEF4E5}" type="datetimeFigureOut">
              <a:rPr lang="en-AU" smtClean="0"/>
              <a:t>29/10/2026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264E1C-9DCC-E4B6-1D2B-55DC908A1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B4AF9F-A310-2A9B-65C2-1505B721D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EAFBEC-5CA2-4B7B-867A-D5BED69CDD5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962951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D1E3D2-1C6F-4819-6FF4-85F8113F54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8C4098-0A80-ACB3-008E-4FC72771B0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400D66-2D37-8134-C7F9-D2FC1E1CD9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63C8C7-CBCA-4667-931A-6DAEBDCEF4E5}" type="datetimeFigureOut">
              <a:rPr lang="en-AU" smtClean="0"/>
              <a:t>29/10/2026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806F7B-8CE9-343C-6925-1AABB6B4CC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2804FC-8D17-D9A4-1A77-7020E841EF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EAFBEC-5CA2-4B7B-867A-D5BED69CDD5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120415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F55AE-6017-F3D3-9ED4-74B6648B4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Decay the first 2 and the last 2 timepoints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26A5BF-AF9B-B527-BF7C-75E28FD5EF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Compare the decay rate with to get the adjusted pairwise p-value comparison </a:t>
            </a:r>
          </a:p>
          <a:p>
            <a:r>
              <a:rPr lang="en-AU" dirty="0"/>
              <a:t>Early decay and late decay</a:t>
            </a:r>
          </a:p>
          <a:p>
            <a:endParaRPr lang="en-AU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D89F158-52D0-DDAA-C0E9-C0A0ECA28E22}"/>
              </a:ext>
            </a:extLst>
          </p:cNvPr>
          <p:cNvCxnSpPr>
            <a:cxnSpLocks/>
          </p:cNvCxnSpPr>
          <p:nvPr/>
        </p:nvCxnSpPr>
        <p:spPr>
          <a:xfrm>
            <a:off x="1369620" y="5724144"/>
            <a:ext cx="8284464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C9256C5-7139-0D41-5DE9-D76270F8B7AE}"/>
              </a:ext>
            </a:extLst>
          </p:cNvPr>
          <p:cNvCxnSpPr>
            <a:cxnSpLocks/>
          </p:cNvCxnSpPr>
          <p:nvPr/>
        </p:nvCxnSpPr>
        <p:spPr>
          <a:xfrm flipV="1">
            <a:off x="1369620" y="3246120"/>
            <a:ext cx="0" cy="2478024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B2D3B30-BE4F-3A30-B3BA-190F7DC537CD}"/>
              </a:ext>
            </a:extLst>
          </p:cNvPr>
          <p:cNvSpPr txBox="1"/>
          <p:nvPr/>
        </p:nvSpPr>
        <p:spPr>
          <a:xfrm>
            <a:off x="4913839" y="6334780"/>
            <a:ext cx="60944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800" dirty="0"/>
              <a:t>Day</a:t>
            </a:r>
            <a:endParaRPr lang="en-AU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EC37621-440E-B642-5F28-D6438C762611}"/>
              </a:ext>
            </a:extLst>
          </p:cNvPr>
          <p:cNvSpPr txBox="1"/>
          <p:nvPr/>
        </p:nvSpPr>
        <p:spPr>
          <a:xfrm>
            <a:off x="1606602" y="5671344"/>
            <a:ext cx="60944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800" dirty="0"/>
              <a:t>8</a:t>
            </a:r>
            <a:endParaRPr lang="en-AU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9E07ECA-AB99-7D7A-2F8D-0000A6B7A0BD}"/>
              </a:ext>
            </a:extLst>
          </p:cNvPr>
          <p:cNvSpPr txBox="1"/>
          <p:nvPr/>
        </p:nvSpPr>
        <p:spPr>
          <a:xfrm>
            <a:off x="2793798" y="5671344"/>
            <a:ext cx="60944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800" dirty="0"/>
              <a:t>14</a:t>
            </a:r>
            <a:endParaRPr lang="en-AU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0C7A4A9-CEA6-962A-4928-214185EE6598}"/>
              </a:ext>
            </a:extLst>
          </p:cNvPr>
          <p:cNvSpPr txBox="1"/>
          <p:nvPr/>
        </p:nvSpPr>
        <p:spPr>
          <a:xfrm>
            <a:off x="4470198" y="5671344"/>
            <a:ext cx="60944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800" dirty="0"/>
              <a:t>28</a:t>
            </a:r>
            <a:endParaRPr lang="en-AU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0AE0F1A-D98C-E56D-57D9-5D1FB87C85F3}"/>
              </a:ext>
            </a:extLst>
          </p:cNvPr>
          <p:cNvSpPr txBox="1"/>
          <p:nvPr/>
        </p:nvSpPr>
        <p:spPr>
          <a:xfrm>
            <a:off x="8157135" y="5640724"/>
            <a:ext cx="60944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800" dirty="0"/>
              <a:t>60</a:t>
            </a:r>
            <a:endParaRPr lang="en-AU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AA81BE6A-DB60-3583-EC96-8F4AF0B42C2E}"/>
              </a:ext>
            </a:extLst>
          </p:cNvPr>
          <p:cNvSpPr/>
          <p:nvPr/>
        </p:nvSpPr>
        <p:spPr>
          <a:xfrm>
            <a:off x="1606602" y="3761295"/>
            <a:ext cx="150829" cy="1508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2BB09088-8084-B4BC-2BF3-9C21B6B939BB}"/>
              </a:ext>
            </a:extLst>
          </p:cNvPr>
          <p:cNvSpPr/>
          <p:nvPr/>
        </p:nvSpPr>
        <p:spPr>
          <a:xfrm>
            <a:off x="2844495" y="4281503"/>
            <a:ext cx="150829" cy="1508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4E7A4B45-8E97-8CC8-06E5-812ACE1508CD}"/>
              </a:ext>
            </a:extLst>
          </p:cNvPr>
          <p:cNvSpPr/>
          <p:nvPr/>
        </p:nvSpPr>
        <p:spPr>
          <a:xfrm>
            <a:off x="4687963" y="4901009"/>
            <a:ext cx="150829" cy="150829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3B1291A3-52F2-0366-A028-9783BE28E4ED}"/>
              </a:ext>
            </a:extLst>
          </p:cNvPr>
          <p:cNvSpPr/>
          <p:nvPr/>
        </p:nvSpPr>
        <p:spPr>
          <a:xfrm>
            <a:off x="8337707" y="5187906"/>
            <a:ext cx="150829" cy="150829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7488ED4-00BE-71A7-1FB0-52196F1D7877}"/>
              </a:ext>
            </a:extLst>
          </p:cNvPr>
          <p:cNvCxnSpPr>
            <a:cxnSpLocks/>
            <a:stCxn id="21" idx="5"/>
            <a:endCxn id="23" idx="6"/>
          </p:cNvCxnSpPr>
          <p:nvPr/>
        </p:nvCxnSpPr>
        <p:spPr>
          <a:xfrm>
            <a:off x="1735343" y="3890036"/>
            <a:ext cx="1259981" cy="466882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C9598CD0-08C1-3A41-C667-B700F26A7AAD}"/>
              </a:ext>
            </a:extLst>
          </p:cNvPr>
          <p:cNvCxnSpPr>
            <a:cxnSpLocks/>
            <a:endCxn id="27" idx="6"/>
          </p:cNvCxnSpPr>
          <p:nvPr/>
        </p:nvCxnSpPr>
        <p:spPr>
          <a:xfrm>
            <a:off x="4763377" y="4976214"/>
            <a:ext cx="3725159" cy="28710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7DAC6CBE-DAB8-AB3F-B45D-0A59D1E5E9AF}"/>
              </a:ext>
            </a:extLst>
          </p:cNvPr>
          <p:cNvSpPr txBox="1"/>
          <p:nvPr/>
        </p:nvSpPr>
        <p:spPr>
          <a:xfrm>
            <a:off x="1606602" y="4163731"/>
            <a:ext cx="712666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800" dirty="0">
                <a:solidFill>
                  <a:srgbClr val="0070C0"/>
                </a:solidFill>
              </a:rPr>
              <a:t>Early</a:t>
            </a:r>
            <a:endParaRPr lang="en-AU" dirty="0">
              <a:solidFill>
                <a:srgbClr val="0070C0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AC1EE81-C160-B759-F1B6-936C9C76158B}"/>
              </a:ext>
            </a:extLst>
          </p:cNvPr>
          <p:cNvSpPr txBox="1"/>
          <p:nvPr/>
        </p:nvSpPr>
        <p:spPr>
          <a:xfrm>
            <a:off x="6145027" y="4569973"/>
            <a:ext cx="712666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800" dirty="0">
                <a:solidFill>
                  <a:srgbClr val="FF0000"/>
                </a:solidFill>
              </a:rPr>
              <a:t>Late</a:t>
            </a:r>
            <a:endParaRPr lang="en-AU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21407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C1C32-D0C4-6B78-4C26-309946A12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CD8 Tet+</a:t>
            </a:r>
            <a:endParaRPr lang="en-AU" dirty="0">
              <a:solidFill>
                <a:srgbClr val="FF0000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C6812FA-66E8-9787-45FA-795B96F6AA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4136" y="4370832"/>
            <a:ext cx="4663440" cy="248716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231E1BB-0665-E242-E621-82F09C89A4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40" y="1314972"/>
            <a:ext cx="5032255" cy="301935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B83535A-6D77-F81E-AA9F-2C0D3BC1167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3415" y="1314972"/>
            <a:ext cx="5111490" cy="3066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51310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4D601A-9F6C-73A3-4DA5-2D90718881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F5AFC-59A1-D0E2-5343-B89177536D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CD8 Tet+ </a:t>
            </a:r>
            <a:r>
              <a:rPr lang="sv-SE" dirty="0">
                <a:solidFill>
                  <a:srgbClr val="FF0000"/>
                </a:solidFill>
              </a:rPr>
              <a:t>KLRG1+ CD127- effector</a:t>
            </a:r>
            <a:endParaRPr lang="en-AU" dirty="0">
              <a:solidFill>
                <a:srgbClr val="FF000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3077D13-F385-7D8F-E2D0-ED871FCD54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6479" y="4410363"/>
            <a:ext cx="4589320" cy="244763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423E71E-B711-D5F5-6192-6A9FB96282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4481" y="1311168"/>
            <a:ext cx="5114673" cy="306880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599C886-6658-C4B7-301A-EE6AE4D692B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68230"/>
            <a:ext cx="5257799" cy="3154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880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919B79-6517-0451-8B67-1DF385713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15CF4-AE4D-992D-B76A-0253927DD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CD8 Tet+ </a:t>
            </a:r>
            <a:r>
              <a:rPr lang="sv-SE" dirty="0">
                <a:solidFill>
                  <a:srgbClr val="FF0000"/>
                </a:solidFill>
              </a:rPr>
              <a:t>CD127+ KLRG1- memory</a:t>
            </a:r>
            <a:endParaRPr lang="en-AU" dirty="0">
              <a:solidFill>
                <a:srgbClr val="FF000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DBADF8D-B09D-661C-B988-D92F72E25A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8416" y="4369206"/>
            <a:ext cx="4666488" cy="248879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C89C7A5-E7B1-CCB6-7A3B-4E6D4E54DC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5006" y="1387140"/>
            <a:ext cx="4876810" cy="292608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6482D8A-D4F3-28A7-0433-23899B841D5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89300"/>
            <a:ext cx="5202943" cy="3121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73063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8D58E9-C276-AB45-3EB1-8DE3829D83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67B10-3352-4240-46D8-E0B94380F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CD8 Tet+ CD62L- CX3CR1hi TEM</a:t>
            </a:r>
            <a:endParaRPr lang="en-AU" dirty="0">
              <a:solidFill>
                <a:srgbClr val="FF0000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3FCFAC3-4C4D-1427-EEA4-24AF7DED5A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9609" y="4415078"/>
            <a:ext cx="4580478" cy="244292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5DAD595-5712-578E-F2F5-C4C7A859F0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2346" y="1365339"/>
            <a:ext cx="5137326" cy="308239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894B504-4BFD-F5A9-A377-96C148912BF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18459"/>
            <a:ext cx="5137326" cy="3082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1996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7D78DB-01C5-9522-285F-87F4F3232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E780E-1441-7078-C32B-A521AA47E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CD8 Tet+ </a:t>
            </a:r>
            <a:r>
              <a:rPr lang="sv-SE" dirty="0">
                <a:solidFill>
                  <a:srgbClr val="FF0000"/>
                </a:solidFill>
              </a:rPr>
              <a:t>CD127+ CD62L+ CX3CR1- KLRG1- TCM</a:t>
            </a:r>
            <a:endParaRPr lang="en-AU" dirty="0">
              <a:solidFill>
                <a:srgbClr val="FF0000"/>
              </a:solidFill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05086068-6E9F-CA39-02E9-149A5189C1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8270" y="4508154"/>
            <a:ext cx="4413739" cy="235399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AFE666F-8CFD-7F9E-C583-42FCB817B8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9470" y="1440762"/>
            <a:ext cx="5105406" cy="306324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53C56CE-71AE-733A-5C55-36448BD84C1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93516"/>
            <a:ext cx="5105406" cy="3063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12665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E5A729-DBA0-1F7B-9A8B-190E90D8F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2D66D-44FB-53DD-35BF-D32973C0E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CD8 Tet+ </a:t>
            </a:r>
            <a:r>
              <a:rPr lang="sv-SE" dirty="0">
                <a:solidFill>
                  <a:srgbClr val="FF0000"/>
                </a:solidFill>
              </a:rPr>
              <a:t>CD127+ KLRG1- TCF1+ SLAMF6+ Tscm</a:t>
            </a:r>
            <a:endParaRPr lang="en-AU" dirty="0">
              <a:solidFill>
                <a:srgbClr val="FF0000"/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6F95643-8240-57CF-CF00-C8E5A9D665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8131" y="4460685"/>
            <a:ext cx="4494965" cy="239731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CFAE216-41AB-58FD-F711-32418FF62B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0090" y="1490034"/>
            <a:ext cx="4928609" cy="295716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E9A54E7-8BAE-5371-6CAC-4362866B10E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303" y="1490036"/>
            <a:ext cx="4928609" cy="2957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85067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9B8321-4B04-49F9-2C35-EA4C496EF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F3F67-EBD1-02BA-F086-E01AC977C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CD8 Tet+ </a:t>
            </a:r>
            <a:r>
              <a:rPr lang="sv-SE" dirty="0">
                <a:solidFill>
                  <a:srgbClr val="FF0000"/>
                </a:solidFill>
              </a:rPr>
              <a:t>CXCR5+ PD1+ CD127+ KLRG-1 TFHlike</a:t>
            </a:r>
            <a:endParaRPr lang="en-AU" dirty="0">
              <a:solidFill>
                <a:srgbClr val="FF0000"/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172B6B9-EEED-9B1C-A090-D177FA8CBD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8422" y="4569428"/>
            <a:ext cx="4291073" cy="228857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FD1DE10-08E2-817C-9300-49BAE05D3E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6247" y="1599722"/>
            <a:ext cx="5021670" cy="301300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F94F2D5-9259-8A9B-1E4B-6E291E91458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99722"/>
            <a:ext cx="5021670" cy="3013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6692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A93F4-E6DA-71B9-FF03-04DE01945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solidFill>
                  <a:srgbClr val="00B050"/>
                </a:solidFill>
              </a:rPr>
              <a:t>CD4 </a:t>
            </a:r>
            <a:r>
              <a:rPr lang="en-AU" dirty="0" err="1">
                <a:solidFill>
                  <a:srgbClr val="00B050"/>
                </a:solidFill>
              </a:rPr>
              <a:t>tet</a:t>
            </a:r>
            <a:r>
              <a:rPr lang="en-AU" dirty="0">
                <a:solidFill>
                  <a:srgbClr val="00B050"/>
                </a:solidFill>
              </a:rPr>
              <a:t>+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1731133-E97A-5B94-8015-89AFB77AF5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0207" y="4441039"/>
            <a:ext cx="4531802" cy="241696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57B62B2-0025-5BA0-1502-AFFA6F204E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2699" y="1371276"/>
            <a:ext cx="4876810" cy="292608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CE21C73-541C-B365-ADDF-44C526A2C3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71276"/>
            <a:ext cx="4876810" cy="292608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83DFCC5-5C8F-4422-BDD7-3ACEA7A84627}"/>
              </a:ext>
            </a:extLst>
          </p:cNvPr>
          <p:cNvSpPr txBox="1"/>
          <p:nvPr/>
        </p:nvSpPr>
        <p:spPr>
          <a:xfrm>
            <a:off x="0" y="4587690"/>
            <a:ext cx="6096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3200" dirty="0"/>
              <a:t>Early decay:</a:t>
            </a:r>
          </a:p>
          <a:p>
            <a:r>
              <a:rPr lang="en-AU" sz="3200" dirty="0"/>
              <a:t>TM vs IC</a:t>
            </a:r>
          </a:p>
          <a:p>
            <a:r>
              <a:rPr lang="en-AU" sz="3200" dirty="0"/>
              <a:t>Tmd21 vs IC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BB0D55B-E73C-2D11-C7B3-F6D9C29CB545}"/>
              </a:ext>
            </a:extLst>
          </p:cNvPr>
          <p:cNvSpPr txBox="1"/>
          <p:nvPr/>
        </p:nvSpPr>
        <p:spPr>
          <a:xfrm>
            <a:off x="3048000" y="4587690"/>
            <a:ext cx="6096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3200" dirty="0"/>
              <a:t>Late decay:</a:t>
            </a:r>
          </a:p>
          <a:p>
            <a:r>
              <a:rPr lang="en-AU" sz="3200" dirty="0"/>
              <a:t>TM vs SOL</a:t>
            </a:r>
          </a:p>
          <a:p>
            <a:r>
              <a:rPr lang="en-AU" sz="3200" dirty="0"/>
              <a:t>TM vs IC</a:t>
            </a:r>
          </a:p>
        </p:txBody>
      </p:sp>
    </p:spTree>
    <p:extLst>
      <p:ext uri="{BB962C8B-B14F-4D97-AF65-F5344CB8AC3E}">
        <p14:creationId xmlns:p14="http://schemas.microsoft.com/office/powerpoint/2010/main" val="25325310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944B98-8647-75C5-E2BF-60C0F4C68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F47B6-03EA-D3B8-D16C-2F821E1A3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solidFill>
                  <a:srgbClr val="00B050"/>
                </a:solidFill>
              </a:rPr>
              <a:t>CD4 </a:t>
            </a:r>
            <a:r>
              <a:rPr lang="en-AU" dirty="0" err="1">
                <a:solidFill>
                  <a:srgbClr val="00B050"/>
                </a:solidFill>
              </a:rPr>
              <a:t>tet</a:t>
            </a:r>
            <a:r>
              <a:rPr lang="en-AU" dirty="0">
                <a:solidFill>
                  <a:srgbClr val="00B050"/>
                </a:solidFill>
              </a:rPr>
              <a:t>+ Ly6C FOXP3 </a:t>
            </a:r>
            <a:r>
              <a:rPr lang="en-AU" dirty="0" err="1">
                <a:solidFill>
                  <a:srgbClr val="00B050"/>
                </a:solidFill>
              </a:rPr>
              <a:t>Teff_cells</a:t>
            </a:r>
            <a:endParaRPr lang="en-AU" dirty="0">
              <a:solidFill>
                <a:srgbClr val="00B050"/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319E17D-BA0F-135A-0CAB-745F695BC0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3841" y="4253030"/>
            <a:ext cx="4884318" cy="260497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E223716-CF8B-6476-91DE-A345F93DC8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3274" y="1328003"/>
            <a:ext cx="4998726" cy="299923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1D34B22-BEE2-66B3-4EEF-75F11D3D78E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34436"/>
            <a:ext cx="4998726" cy="2999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1153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904E9-71F1-E417-B6C6-990177BEB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75692-C970-4C9A-40F4-81D66B08E6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solidFill>
                  <a:srgbClr val="00B050"/>
                </a:solidFill>
              </a:rPr>
              <a:t>CD4 </a:t>
            </a:r>
            <a:r>
              <a:rPr lang="en-AU" dirty="0" err="1">
                <a:solidFill>
                  <a:srgbClr val="00B050"/>
                </a:solidFill>
              </a:rPr>
              <a:t>tet</a:t>
            </a:r>
            <a:r>
              <a:rPr lang="en-AU" dirty="0">
                <a:solidFill>
                  <a:srgbClr val="00B050"/>
                </a:solidFill>
              </a:rPr>
              <a:t>+ </a:t>
            </a:r>
            <a:r>
              <a:rPr lang="en-AU" dirty="0" err="1">
                <a:solidFill>
                  <a:srgbClr val="00B050"/>
                </a:solidFill>
              </a:rPr>
              <a:t>TCM_cells</a:t>
            </a:r>
            <a:endParaRPr lang="en-AU" dirty="0">
              <a:solidFill>
                <a:srgbClr val="00B05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311B885-193C-0F32-F310-CBADBFB347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3186" y="4250534"/>
            <a:ext cx="4888999" cy="260746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01008E1-FCF1-B47F-A187-15ACC85A11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2314" y="1233160"/>
            <a:ext cx="5059686" cy="303581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8265B4F-12F8-018C-C5FF-C9B697E169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33160"/>
            <a:ext cx="5059686" cy="303581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66F3D28-3731-AC19-DE2E-D480DB59DAEB}"/>
              </a:ext>
            </a:extLst>
          </p:cNvPr>
          <p:cNvSpPr txBox="1"/>
          <p:nvPr/>
        </p:nvSpPr>
        <p:spPr>
          <a:xfrm>
            <a:off x="0" y="4587690"/>
            <a:ext cx="6096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3200" dirty="0"/>
              <a:t>Early decay:</a:t>
            </a:r>
          </a:p>
          <a:p>
            <a:r>
              <a:rPr lang="en-AU" sz="3200" dirty="0"/>
              <a:t>TM vs IC</a:t>
            </a:r>
          </a:p>
          <a:p>
            <a:r>
              <a:rPr lang="en-AU" sz="3200" dirty="0"/>
              <a:t>Tmd21 vs IC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93D2FFD-494A-A983-93CA-515A1ABAF7B0}"/>
              </a:ext>
            </a:extLst>
          </p:cNvPr>
          <p:cNvSpPr txBox="1"/>
          <p:nvPr/>
        </p:nvSpPr>
        <p:spPr>
          <a:xfrm>
            <a:off x="3048000" y="4587690"/>
            <a:ext cx="60960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3200" dirty="0"/>
              <a:t>Late decay:</a:t>
            </a:r>
          </a:p>
          <a:p>
            <a:r>
              <a:rPr lang="en-AU" sz="3200" dirty="0"/>
              <a:t>TM vs IC</a:t>
            </a:r>
          </a:p>
        </p:txBody>
      </p:sp>
    </p:spTree>
    <p:extLst>
      <p:ext uri="{BB962C8B-B14F-4D97-AF65-F5344CB8AC3E}">
        <p14:creationId xmlns:p14="http://schemas.microsoft.com/office/powerpoint/2010/main" val="11051235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41588E-6F07-4DBD-FD38-D75D1DFB1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A633F-6587-BC0B-EB42-1C2E2B342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solidFill>
                  <a:srgbClr val="00B050"/>
                </a:solidFill>
              </a:rPr>
              <a:t>CD4 </a:t>
            </a:r>
            <a:r>
              <a:rPr lang="en-AU" dirty="0" err="1">
                <a:solidFill>
                  <a:srgbClr val="00B050"/>
                </a:solidFill>
              </a:rPr>
              <a:t>tet</a:t>
            </a:r>
            <a:r>
              <a:rPr lang="en-AU" dirty="0">
                <a:solidFill>
                  <a:srgbClr val="00B050"/>
                </a:solidFill>
              </a:rPr>
              <a:t>+ </a:t>
            </a:r>
            <a:r>
              <a:rPr lang="en-AU" dirty="0" err="1">
                <a:solidFill>
                  <a:srgbClr val="00B050"/>
                </a:solidFill>
              </a:rPr>
              <a:t>TEM_cells</a:t>
            </a:r>
            <a:endParaRPr lang="en-AU" dirty="0">
              <a:solidFill>
                <a:srgbClr val="00B05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A39D8B8-7C68-221E-CBE9-76878B2058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7487" y="4322061"/>
            <a:ext cx="4754886" cy="253593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B273171-9408-5F07-B74B-D5D1E32FE3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1840" y="1271818"/>
            <a:ext cx="4992630" cy="299557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A2826F1-8FD4-92E9-878F-E8D6691284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71818"/>
            <a:ext cx="4992630" cy="299557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DBBDE16-A9F3-C58D-D9E7-E37CA1DE3596}"/>
              </a:ext>
            </a:extLst>
          </p:cNvPr>
          <p:cNvSpPr txBox="1"/>
          <p:nvPr/>
        </p:nvSpPr>
        <p:spPr>
          <a:xfrm>
            <a:off x="0" y="4587690"/>
            <a:ext cx="60960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3200" dirty="0"/>
              <a:t>Early decay:</a:t>
            </a:r>
          </a:p>
          <a:p>
            <a:r>
              <a:rPr lang="en-AU" sz="3200" dirty="0"/>
              <a:t>TM vs IC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32D7417-8DB8-EE1A-BD45-D40AA1F85062}"/>
              </a:ext>
            </a:extLst>
          </p:cNvPr>
          <p:cNvSpPr txBox="1"/>
          <p:nvPr/>
        </p:nvSpPr>
        <p:spPr>
          <a:xfrm>
            <a:off x="3048000" y="4587690"/>
            <a:ext cx="6096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3200" dirty="0"/>
              <a:t>Late decay:</a:t>
            </a:r>
          </a:p>
          <a:p>
            <a:r>
              <a:rPr lang="en-AU" sz="3200" dirty="0"/>
              <a:t>TM vs IC</a:t>
            </a:r>
          </a:p>
          <a:p>
            <a:r>
              <a:rPr lang="en-AU" sz="3200" dirty="0"/>
              <a:t>TM vs SOL</a:t>
            </a:r>
          </a:p>
        </p:txBody>
      </p:sp>
    </p:spTree>
    <p:extLst>
      <p:ext uri="{BB962C8B-B14F-4D97-AF65-F5344CB8AC3E}">
        <p14:creationId xmlns:p14="http://schemas.microsoft.com/office/powerpoint/2010/main" val="13894568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6A8718-4A67-79D0-A2C1-42F9555BAD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BA0C72-1455-366B-3676-D5B966C25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solidFill>
                  <a:srgbClr val="00B050"/>
                </a:solidFill>
              </a:rPr>
              <a:t>CD4 </a:t>
            </a:r>
            <a:r>
              <a:rPr lang="en-AU" dirty="0" err="1">
                <a:solidFill>
                  <a:srgbClr val="00B050"/>
                </a:solidFill>
              </a:rPr>
              <a:t>tet</a:t>
            </a:r>
            <a:r>
              <a:rPr lang="en-AU" dirty="0">
                <a:solidFill>
                  <a:srgbClr val="00B050"/>
                </a:solidFill>
              </a:rPr>
              <a:t>+ </a:t>
            </a:r>
            <a:r>
              <a:rPr lang="en-AU" dirty="0" err="1">
                <a:solidFill>
                  <a:srgbClr val="00B050"/>
                </a:solidFill>
              </a:rPr>
              <a:t>TFH_cells</a:t>
            </a:r>
            <a:endParaRPr lang="en-AU" dirty="0">
              <a:solidFill>
                <a:srgbClr val="00B05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611268-D04D-6227-F279-D087A2B0C1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8022" y="4369898"/>
            <a:ext cx="4672574" cy="249204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07C6F9F-03D4-1C67-E03C-2C5736B7D2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1084" y="1338953"/>
            <a:ext cx="5051575" cy="303094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73AB177-C1B3-92D5-0E3A-70BE8E1F62D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31084"/>
            <a:ext cx="5051575" cy="303094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18368FF-C7F9-06E5-58A3-4F4206F5CBBE}"/>
              </a:ext>
            </a:extLst>
          </p:cNvPr>
          <p:cNvSpPr txBox="1"/>
          <p:nvPr/>
        </p:nvSpPr>
        <p:spPr>
          <a:xfrm>
            <a:off x="0" y="4587690"/>
            <a:ext cx="609600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3200" dirty="0"/>
              <a:t>Early decay:</a:t>
            </a:r>
          </a:p>
          <a:p>
            <a:r>
              <a:rPr lang="en-AU" sz="3200" dirty="0"/>
              <a:t>TM vs IC</a:t>
            </a:r>
          </a:p>
          <a:p>
            <a:r>
              <a:rPr lang="en-AU" sz="3200" dirty="0"/>
              <a:t>Tmd21 vs IC</a:t>
            </a:r>
          </a:p>
          <a:p>
            <a:r>
              <a:rPr lang="en-AU" sz="3200" dirty="0"/>
              <a:t>SOL vs IC</a:t>
            </a:r>
          </a:p>
        </p:txBody>
      </p:sp>
    </p:spTree>
    <p:extLst>
      <p:ext uri="{BB962C8B-B14F-4D97-AF65-F5344CB8AC3E}">
        <p14:creationId xmlns:p14="http://schemas.microsoft.com/office/powerpoint/2010/main" val="27244205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ABB20F-4E25-9F2D-6442-8F76D647DE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3E148-924A-3D0F-91A7-7588E5328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solidFill>
                  <a:srgbClr val="00B050"/>
                </a:solidFill>
              </a:rPr>
              <a:t>CD4 </a:t>
            </a:r>
            <a:r>
              <a:rPr lang="en-AU" dirty="0" err="1">
                <a:solidFill>
                  <a:srgbClr val="00B050"/>
                </a:solidFill>
              </a:rPr>
              <a:t>tet</a:t>
            </a:r>
            <a:r>
              <a:rPr lang="en-AU" dirty="0">
                <a:solidFill>
                  <a:srgbClr val="00B050"/>
                </a:solidFill>
              </a:rPr>
              <a:t>+ Th1_cells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0518BEA-C7E3-90B6-88E4-62924B6662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9164" y="4257035"/>
            <a:ext cx="4876810" cy="260096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18E103D-8ECD-0623-A88D-9EF2839D11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6873" y="1269830"/>
            <a:ext cx="4876810" cy="292608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33DFD95-60E2-10B4-8BC3-E4073867EA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69830"/>
            <a:ext cx="4876810" cy="2926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08401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4419F2-2816-F0DF-BF24-F17463D80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72A09-0A0A-C0BF-E6E1-F1C079049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solidFill>
                  <a:srgbClr val="00B050"/>
                </a:solidFill>
              </a:rPr>
              <a:t>CD4 </a:t>
            </a:r>
            <a:r>
              <a:rPr lang="en-AU" dirty="0" err="1">
                <a:solidFill>
                  <a:srgbClr val="00B050"/>
                </a:solidFill>
              </a:rPr>
              <a:t>tet</a:t>
            </a:r>
            <a:r>
              <a:rPr lang="en-AU" dirty="0">
                <a:solidFill>
                  <a:srgbClr val="00B050"/>
                </a:solidFill>
              </a:rPr>
              <a:t>+ Th2_cells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A3F2B5B-248E-E063-7A52-A79905C346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6340" y="4544299"/>
            <a:ext cx="4338190" cy="231370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ECABA21-7C73-F599-4FFB-A2FFCBBEA5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4769" y="1270693"/>
            <a:ext cx="5212086" cy="312725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858AC21-04F0-CA70-DBF5-537C683C71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736" y="1270693"/>
            <a:ext cx="5212086" cy="312725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3BC8A0C-3A4A-2760-8C98-3957F8264737}"/>
              </a:ext>
            </a:extLst>
          </p:cNvPr>
          <p:cNvSpPr txBox="1"/>
          <p:nvPr/>
        </p:nvSpPr>
        <p:spPr>
          <a:xfrm>
            <a:off x="3048000" y="4587690"/>
            <a:ext cx="609600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3200" dirty="0"/>
              <a:t>Late decay:</a:t>
            </a:r>
          </a:p>
          <a:p>
            <a:r>
              <a:rPr lang="en-AU" sz="3200" dirty="0"/>
              <a:t>TM vs Tmd21</a:t>
            </a:r>
          </a:p>
          <a:p>
            <a:r>
              <a:rPr lang="en-AU" sz="3200" dirty="0"/>
              <a:t>TM vs SOL</a:t>
            </a:r>
          </a:p>
          <a:p>
            <a:r>
              <a:rPr lang="en-AU" sz="3200" dirty="0"/>
              <a:t>TM vs IC</a:t>
            </a:r>
          </a:p>
        </p:txBody>
      </p:sp>
    </p:spTree>
    <p:extLst>
      <p:ext uri="{BB962C8B-B14F-4D97-AF65-F5344CB8AC3E}">
        <p14:creationId xmlns:p14="http://schemas.microsoft.com/office/powerpoint/2010/main" val="36541870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393</TotalTime>
  <Words>201</Words>
  <Application>Microsoft Office PowerPoint</Application>
  <PresentationFormat>Widescreen</PresentationFormat>
  <Paragraphs>48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 Theme</vt:lpstr>
      <vt:lpstr>Decay the first 2 and the last 2 timepoints</vt:lpstr>
      <vt:lpstr>CD8 Tet+</vt:lpstr>
      <vt:lpstr>CD8 Tet+ KLRG1+ CD127- effector</vt:lpstr>
      <vt:lpstr>CD8 Tet+ CD127+ KLRG1- memory</vt:lpstr>
      <vt:lpstr>CD8 Tet+ CD62L- CX3CR1hi TEM</vt:lpstr>
      <vt:lpstr>CD8 Tet+ CD127+ CD62L+ CX3CR1- KLRG1- TCM</vt:lpstr>
      <vt:lpstr>CD8 Tet+ CD127+ KLRG1- TCF1+ SLAMF6+ Tscm</vt:lpstr>
      <vt:lpstr>CD8 Tet+ CXCR5+ PD1+ CD127+ KLRG-1 TFHlike</vt:lpstr>
      <vt:lpstr>CD4 tet+</vt:lpstr>
      <vt:lpstr>CD4 tet+ Ly6C FOXP3 Teff_cells</vt:lpstr>
      <vt:lpstr>CD4 tet+ TCM_cells</vt:lpstr>
      <vt:lpstr>CD4 tet+ TEM_cells</vt:lpstr>
      <vt:lpstr>CD4 tet+ TFH_cells</vt:lpstr>
      <vt:lpstr>CD4 tet+ Th1_cells</vt:lpstr>
      <vt:lpstr>CD4 tet+ Th2_cells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Arnold Reynaldi</dc:creator>
  <cp:lastModifiedBy>Arnold Reynaldi</cp:lastModifiedBy>
  <cp:revision>16</cp:revision>
  <dcterms:created xsi:type="dcterms:W3CDTF">2026-09-28T00:29:24Z</dcterms:created>
  <dcterms:modified xsi:type="dcterms:W3CDTF">2026-10-29T05:18:44Z</dcterms:modified>
</cp:coreProperties>
</file>