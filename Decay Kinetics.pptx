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57" r:id="rId11"/>
    <p:sldId id="258" r:id="rId12"/>
    <p:sldId id="259" r:id="rId13"/>
    <p:sldId id="260" r:id="rId14"/>
    <p:sldId id="261" r:id="rId15"/>
    <p:sldId id="262" r:id="rId16"/>
    <p:sldId id="280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1512D-31BA-4C40-9BFB-70FC430AAA82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BE6D0-D5F3-4085-9F8B-D873F84848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44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F525-50D8-3607-5B97-AD54AE6E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734D0-8FA3-A21C-C1B4-A09830356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707F9-BD8B-7057-BB4F-1B28A9EBA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65101-6A91-4643-B819-41C228967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BE6D0-D5F3-4085-9F8B-D873F848485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37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4F039-20CC-93CE-5B97-A62B05F4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FF69B-527A-FCDE-905B-F28377065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D5B75-A627-233C-A147-9D873F358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8A5F4-7D9F-8BAF-070B-FDD3110E0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BE6D0-D5F3-4085-9F8B-D873F848485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016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7C0E-1972-5D56-A6FC-A0B7AF95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16DF4-80E7-CFFC-4F60-FC398E5AE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42DA3-8C0E-BEF8-98E3-294EA822A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485F5-8B09-DACC-39E6-7FEA33E8D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4BE6D0-D5F3-4085-9F8B-D873F848485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88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5D39-AE2B-DCD2-9B0E-4232A2EA8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59330-6581-3257-B508-3C34F2A8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1A251-45BF-56EC-27E9-6AE4530B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86FEA-5261-E91D-CE8B-0A76E386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B638C-D62B-3545-D2C6-D1E55CEF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641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95A8-B993-AEB8-B6A0-AC0C88CB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27D09-F81B-47F5-2D88-F0EE87EA0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186C-E90B-752D-A346-5948F155D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126D7-0916-A71A-93F7-8C682C59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5C036-4B8B-0792-E48E-FD57565B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37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67DC-ACBC-1993-59B1-6C1DE3A2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BBA45-42F3-3E46-8A9C-02032C0DB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A2B91-54DA-BB52-2C4E-0F7C233E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4A6F8-4F67-8DD6-C205-079B8283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FA120-7A09-5B07-4DB6-B07A7D70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133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0DA57-F220-4FCB-6D22-CE62049F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5C367-A624-D649-1AB7-E65BC6C3F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D6A6B-96AA-5DC2-97A8-76AC00C86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66D84-5969-5C64-517C-C0EA359C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19FEF-0E2D-7808-4769-F97B2602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91625-B0D3-46F6-9CA1-9FB0890B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20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5A79-41DE-2FF9-37D8-4D781313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AA77D-7528-CCF2-F460-B63DD8B3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1C617-87D6-249E-B7ED-D6DD97F10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781BA7-D39F-F4FC-C0BD-D415C00CF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029B1-5E62-761B-7560-203B54CE0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CC5EF1-774B-AE4C-B8AD-17180965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86AC2-6A87-8071-00EE-3A222036E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1B4D4-3CB0-160D-CC25-46FBCFC0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99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FCBB-6E30-042E-2A0E-51B21E69C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C985B-180C-F52B-09B6-FC3DEE6C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421A3-58EF-6BCC-C195-9E1B7DF1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A0257-4252-38DB-B00B-27814BD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78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D7DBF-F99C-F0B6-613E-9E961824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ED5FB-1984-BA3B-AAA2-B1224503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59D9-B43D-5840-CB5B-520BEB81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2804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612C-10AF-D520-E609-A59C1494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959D9-E8FE-7DC5-283B-6DC215E54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D99F0-09B1-ED69-6F76-70B8E622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CF4BA-B370-D748-7857-CB896BCA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D55AE-E878-9C30-1D83-8B958354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B43A8-B784-63A2-C78D-E67CD936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34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4F08-9BE8-A9C8-7B57-54A497358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4A446-A4CD-D7BF-683E-6867CE974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2C76-01C8-E02C-18EF-6FD4ED43D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FB18C-28E6-318C-67E8-328ACAAC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DC14F-6A6C-EDF5-FFFA-E2BCD656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F093D-2E43-DBC4-6CF4-BAC7D3A0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936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BB49-E509-E058-584A-948E7D1E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B6131-8D49-900C-F050-9F20388E8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A2B25-C5A6-2807-0365-09CA3FF9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7AC06-35C7-A365-7FE9-3F5CBB1A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62DAE-2AE7-1308-3BE4-AF8CD374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08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DF5E9-37DF-2A85-880E-41BAA19F2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3367D-4702-CC64-0C61-139A6054F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690FF-B2D0-1EC7-476D-7F711D28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D37E-0DEB-B8F9-0D64-20CB6993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872DB-2669-7BE4-7F53-3149C63C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69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F3710-3B36-85BA-035A-8C812EC3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6B840-DFA3-8D48-93D4-712E38FEC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B9084-900D-C208-6129-A8E7C18A6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B691C-6365-487C-9B0B-C92D3508E265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5DFE-3C88-E3BC-01B9-5BFAA2BA5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1F68-9463-8644-BB91-AF7022869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66B66-C1AE-4021-8E1E-84FCAB2403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92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8F7F-BF30-90F0-97DA-3BBBC5FF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BF9E-E943-351E-2AB2-89C130C5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CD8 </a:t>
            </a:r>
            <a:r>
              <a:rPr lang="en-AU" dirty="0" err="1"/>
              <a:t>tet</a:t>
            </a:r>
            <a:r>
              <a:rPr lang="en-AU" dirty="0"/>
              <a:t>+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C4798-155C-7711-9ECE-91862A74A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71621"/>
            <a:ext cx="6364234" cy="3977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4EE971-F4FC-C4BE-E24B-262E79D0D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651" y="1571621"/>
            <a:ext cx="6486156" cy="405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30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9F94-87A1-D9FE-8E12-882A4577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D3B12-0E0A-E5FB-D015-C6479A6C3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1" y="1209671"/>
            <a:ext cx="4546970" cy="30313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39C6C4-A564-87FB-63C8-A7D57FEFF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847" y="1505725"/>
            <a:ext cx="1339319" cy="580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398622-0E0F-A744-2883-FE73F8770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231" y="30860"/>
            <a:ext cx="4765738" cy="3177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34099B-13F7-987C-6A94-97B7B7C662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575940"/>
            <a:ext cx="4876800" cy="3251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A5B303-A1BB-01C3-BF28-3166B43E5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746" y="535478"/>
            <a:ext cx="1339319" cy="580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95E2A7-72D4-F600-8A35-44F2402A0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722" y="5875414"/>
            <a:ext cx="1339319" cy="5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6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AB25-8F29-D042-98AA-BC3FA4CF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64D6-FE1B-785E-83BE-15C759C0E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CD8 </a:t>
            </a:r>
            <a:r>
              <a:rPr lang="en-AU" dirty="0" err="1"/>
              <a:t>tet</a:t>
            </a:r>
            <a:r>
              <a:rPr lang="en-AU" dirty="0"/>
              <a:t>+ </a:t>
            </a:r>
            <a:r>
              <a:rPr lang="en-AU" dirty="0">
                <a:effectLst/>
              </a:rPr>
              <a:t>CD127+ CD62L+ CX3CR1-KLRG1- TCM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3B64F-9AC9-59C4-2EA5-8AC8AB240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621"/>
            <a:ext cx="6382521" cy="3989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BF8120-51EC-AF06-87CF-47C6FC261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1571621"/>
            <a:ext cx="6382521" cy="398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1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1E61-9EE9-13EB-92F3-ED517D66B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7190D5-0C98-E2D3-7B62-159986F71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454400"/>
            <a:ext cx="5105400" cy="340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895DB5-3E61-ECF1-83A0-25F62B6BD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969" y="0"/>
            <a:ext cx="4957031" cy="3304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1585FD-8DB9-1A2B-B74E-CC223DBD8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397"/>
            <a:ext cx="4546971" cy="303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460215-43B5-0BA0-8090-A77DF2479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472" y="1953400"/>
            <a:ext cx="1339319" cy="580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C19020-5897-A3CC-174A-19AC13316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855" y="1602193"/>
            <a:ext cx="1339319" cy="580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3A9B0F-01C5-3660-0F4C-C1FC3B595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8048" y="3820300"/>
            <a:ext cx="1339319" cy="5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25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2E10-9526-C299-426F-D70D19BE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7725-FC5E-E06B-9982-827A1C42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CD8 </a:t>
            </a:r>
            <a:r>
              <a:rPr lang="en-AU" dirty="0" err="1"/>
              <a:t>tet</a:t>
            </a:r>
            <a:r>
              <a:rPr lang="en-AU" dirty="0"/>
              <a:t>+ </a:t>
            </a:r>
            <a:r>
              <a:rPr lang="en-AU" dirty="0">
                <a:effectLst/>
              </a:rPr>
              <a:t>KLRG1+ CD127- effector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EBA21-EB74-21AF-9D07-A322F7C81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621"/>
            <a:ext cx="6382521" cy="3989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306822-CEC2-5EA9-AB3B-F82AA81CF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496" y="1571620"/>
            <a:ext cx="6382521" cy="398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015F-CFB8-FC04-BBC7-B4BF8C60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EFEAAB-07B1-1CFF-8640-41C376E4F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092" y="3520441"/>
            <a:ext cx="4978908" cy="3319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049012-CBFE-1B49-004B-1654DB6DF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092" y="1"/>
            <a:ext cx="4978908" cy="33192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E1BBF7-2F40-5066-89CB-8742B5095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3" y="1471609"/>
            <a:ext cx="4414832" cy="2943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EF12D7-6E83-E846-10A2-6840699F6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6" y="3429000"/>
            <a:ext cx="1339319" cy="580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7E9A21-D67C-B47C-E40A-AC823A7BC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855" y="1602193"/>
            <a:ext cx="1339319" cy="580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8E8BD5-6F96-D95A-7392-7FDC61B5F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2912" y="5804548"/>
            <a:ext cx="1339319" cy="5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5289-3CFF-8EAF-1259-AE74E1A0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6375-D79D-3179-9BD6-32AA5DED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CD8 </a:t>
            </a:r>
            <a:r>
              <a:rPr lang="en-AU" dirty="0" err="1"/>
              <a:t>tet</a:t>
            </a:r>
            <a:r>
              <a:rPr lang="en-AU" dirty="0"/>
              <a:t>+ </a:t>
            </a:r>
            <a:r>
              <a:rPr lang="en-AU" dirty="0">
                <a:effectLst/>
              </a:rPr>
              <a:t>CD62L- CX3CR1hi TEM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3B805-E00A-3205-D7A1-81E056783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620"/>
            <a:ext cx="6497735" cy="4061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275E9-F726-6FF6-1D26-871E0663E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1571620"/>
            <a:ext cx="6497735" cy="40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5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CF75-6194-C95F-B2A5-20AF628B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1F12372-1C2A-6049-8C57-9BE6E2FB7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661" y="3502154"/>
            <a:ext cx="5006339" cy="3337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43731C-8370-0FA9-DF7B-39E9309FD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229" y="18287"/>
            <a:ext cx="5006339" cy="33375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789D4B-2C06-759A-7BCF-9505AEA42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73933"/>
            <a:ext cx="4375410" cy="2916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AC61C9-8AF7-A957-9A04-35A0F50F9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7706" y="3785616"/>
            <a:ext cx="1245252" cy="5394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CEE447-04D4-516C-479A-02363EBFB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477" y="322033"/>
            <a:ext cx="1339319" cy="580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D7EEC7-4719-5E14-D93E-4AC96BA47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721" y="3800299"/>
            <a:ext cx="1211360" cy="52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82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D279-90F8-6A2A-CA47-56D60BAA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E1AA-E2F8-22FF-20EA-63C2DEE0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No evidence that decay rate is different across the 4 vaccine groups</a:t>
            </a:r>
          </a:p>
          <a:p>
            <a:r>
              <a:rPr lang="en-AU" dirty="0"/>
              <a:t>This is true for all subsets</a:t>
            </a:r>
          </a:p>
          <a:p>
            <a:r>
              <a:rPr lang="en-AU" dirty="0"/>
              <a:t>Based on the 95% CI only for now</a:t>
            </a:r>
          </a:p>
        </p:txBody>
      </p:sp>
    </p:spTree>
    <p:extLst>
      <p:ext uri="{BB962C8B-B14F-4D97-AF65-F5344CB8AC3E}">
        <p14:creationId xmlns:p14="http://schemas.microsoft.com/office/powerpoint/2010/main" val="191918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6CAF-BEB7-6FAD-D782-BEC83A05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CD4 </a:t>
            </a:r>
            <a:r>
              <a:rPr lang="en-AU" dirty="0" err="1"/>
              <a:t>tet</a:t>
            </a:r>
            <a:r>
              <a:rPr lang="en-AU" dirty="0"/>
              <a:t>+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46D89-567B-1642-CA56-38D2292B8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67" y="1690688"/>
            <a:ext cx="6364233" cy="3977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9EE42C-87DC-0150-6483-8A0E89340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767" y="1690689"/>
            <a:ext cx="6364233" cy="397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73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8D8E-EA0F-E991-2494-1B6950FF7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D475E4AC-C7D3-571B-FEE7-10A19BA22EE7}"/>
              </a:ext>
            </a:extLst>
          </p:cNvPr>
          <p:cNvGrpSpPr/>
          <p:nvPr/>
        </p:nvGrpSpPr>
        <p:grpSpPr>
          <a:xfrm>
            <a:off x="7544672" y="3615152"/>
            <a:ext cx="4622298" cy="3081532"/>
            <a:chOff x="7569702" y="3615152"/>
            <a:chExt cx="4622298" cy="308153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A4AEDD-A0D1-DF70-AA97-53FDCE8B6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9702" y="3615152"/>
              <a:ext cx="4622298" cy="3081532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D67E9EF-08AF-D975-9DE0-F6026FB76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9212" y="5553410"/>
              <a:ext cx="1681706" cy="682798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B0C628B-FA60-A0B9-171E-CF66516520B4}"/>
              </a:ext>
            </a:extLst>
          </p:cNvPr>
          <p:cNvGrpSpPr/>
          <p:nvPr/>
        </p:nvGrpSpPr>
        <p:grpSpPr>
          <a:xfrm>
            <a:off x="0" y="1613910"/>
            <a:ext cx="4622298" cy="3081532"/>
            <a:chOff x="6862" y="668783"/>
            <a:chExt cx="4622298" cy="308153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DDD3BD-FC32-D5BB-0B9C-5F13685BE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2" y="668783"/>
              <a:ext cx="4622298" cy="3081532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4A6EC9C-B143-E453-8CB0-0B08CB6E4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669" y="2546939"/>
              <a:ext cx="1681706" cy="682798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73B31A4-ABF8-E4DC-324A-139CB7602113}"/>
              </a:ext>
            </a:extLst>
          </p:cNvPr>
          <p:cNvGrpSpPr/>
          <p:nvPr/>
        </p:nvGrpSpPr>
        <p:grpSpPr>
          <a:xfrm>
            <a:off x="7544672" y="73144"/>
            <a:ext cx="4622298" cy="3081532"/>
            <a:chOff x="7569702" y="0"/>
            <a:chExt cx="4622298" cy="308153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F66A83-9C30-DFC0-FDA2-52DD3F43C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9702" y="0"/>
              <a:ext cx="4622298" cy="3081532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6F81EDE6-AC99-4EA9-58B2-987D56050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40112" y="308403"/>
              <a:ext cx="1679396" cy="757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198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79BF-9BA3-EFA9-8F6F-2C59B9EC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819F-5BFC-F67B-C4CF-C0ECB6A4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CD4 </a:t>
            </a:r>
            <a:r>
              <a:rPr lang="en-AU" dirty="0" err="1"/>
              <a:t>tet</a:t>
            </a:r>
            <a:r>
              <a:rPr lang="en-AU" dirty="0"/>
              <a:t>+ </a:t>
            </a:r>
            <a:r>
              <a:rPr lang="en-AU" dirty="0">
                <a:effectLst/>
              </a:rPr>
              <a:t>Ly6C+ FOXP3- Teff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D91E9-0F99-E380-974D-CCCDFC8F9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9432"/>
            <a:ext cx="6364234" cy="3977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9E0C1D-9BEE-D1E6-66D0-C3BBD23E5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1655060"/>
            <a:ext cx="6364234" cy="39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2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6A43-13C2-9408-9307-9DF8F1BD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A9048-7E1C-EEF4-C939-293B52A23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2" y="1422032"/>
            <a:ext cx="4622299" cy="308153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63EDACE-630C-E832-6643-A54BC251BD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672" y="46858"/>
            <a:ext cx="4544736" cy="3029824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54FEA435-F01F-90A5-782C-78521FD6D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779" y="1976733"/>
            <a:ext cx="1419542" cy="71082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C59B2D3-5384-DEF6-407C-F14D9B548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529" y="3468216"/>
            <a:ext cx="4615022" cy="307668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25CB96D-AE53-DDD7-F1D4-FE2A19CBD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684" y="3834696"/>
            <a:ext cx="1543865" cy="66886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0FDE44B-7994-FBFE-0CB9-60249D870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24" y="3381841"/>
            <a:ext cx="1543865" cy="66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7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A095-D7D0-BE8B-71E7-7CD1E244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F1801-E30D-AC18-3894-C5A47650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CD4 </a:t>
            </a:r>
            <a:r>
              <a:rPr lang="en-AU" dirty="0" err="1"/>
              <a:t>tet</a:t>
            </a:r>
            <a:r>
              <a:rPr lang="en-AU" dirty="0"/>
              <a:t>+ </a:t>
            </a:r>
            <a:r>
              <a:rPr lang="en-AU" dirty="0">
                <a:effectLst/>
              </a:rPr>
              <a:t>TFH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94B6B-8CAC-D128-11E1-355367707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6307230" cy="3942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F58AE-5EB3-1109-0258-DCAF97BA7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785" y="1690688"/>
            <a:ext cx="6307230" cy="39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46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DFA40-55FA-4D5D-63EB-3AAB7E3A7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BBF1D5D-D64A-B419-AAED-563AA955C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978" y="3487460"/>
            <a:ext cx="4595022" cy="306334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247F749-A098-3748-AD84-6F6284C3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989" y="3844630"/>
            <a:ext cx="1543865" cy="6688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8028B6-A13E-2C14-27BE-5B5619B41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6" y="1528503"/>
            <a:ext cx="4770993" cy="31806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7C8A808-004A-5C1D-7886-468243735C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284" y="-1"/>
            <a:ext cx="4433410" cy="29556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00B55A5-043C-08A9-AD2B-03FF69F6E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971" y="1970222"/>
            <a:ext cx="1543865" cy="6688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C645EBA-5007-6BCF-3C58-C4071C7C5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352" y="307192"/>
            <a:ext cx="1543865" cy="66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08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2D8E-2104-A3E8-D50E-6C028862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F722-579E-E19A-5EAB-8D82BBCC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CD4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161CC-6B58-4C7B-7960-23DA18DA2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Fastest decay in TM and slowest in IC (with CD4 </a:t>
            </a:r>
            <a:r>
              <a:rPr lang="en-AU" dirty="0" err="1"/>
              <a:t>tet</a:t>
            </a:r>
            <a:r>
              <a:rPr lang="en-AU" dirty="0"/>
              <a:t>+)</a:t>
            </a:r>
          </a:p>
          <a:p>
            <a:r>
              <a:rPr lang="en-AU" dirty="0"/>
              <a:t>No clear difference in decay of TFH and Teff across the 4 vaccine groups</a:t>
            </a:r>
          </a:p>
        </p:txBody>
      </p:sp>
    </p:spTree>
    <p:extLst>
      <p:ext uri="{BB962C8B-B14F-4D97-AF65-F5344CB8AC3E}">
        <p14:creationId xmlns:p14="http://schemas.microsoft.com/office/powerpoint/2010/main" val="1887634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5D7-CC85-C95D-A5F7-054F76CC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572E8-E88B-DBCA-6213-50F04A7C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Looking at the conversion of CD62L low to CD62L hi</a:t>
            </a:r>
          </a:p>
          <a:p>
            <a:r>
              <a:rPr lang="en-AU" dirty="0"/>
              <a:t>This conversion is ‘well-defined’ in literature?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7125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ABB23-8128-BC1D-FB6F-8B7EC58F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E4B-21F3-6C3D-4148-F5139360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DCA8A-288E-26D0-4E63-ECB15D046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5961"/>
            <a:ext cx="5400224" cy="4050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D1B957-CB52-1EFE-D2C7-79254105C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225" y="1545959"/>
            <a:ext cx="5400226" cy="40501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988B88-AAD2-CEA6-2B6F-1FBC10D7AD63}"/>
              </a:ext>
            </a:extLst>
          </p:cNvPr>
          <p:cNvSpPr txBox="1"/>
          <p:nvPr/>
        </p:nvSpPr>
        <p:spPr>
          <a:xfrm>
            <a:off x="93726" y="609276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Hard to see what's going on here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6725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4D52-3DAA-78BE-5783-47A2EBEC8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Ratio of TEM to TCM (based on CD62L expression)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695F3B-5DDF-06CA-7357-B5DB81F31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43" y="1807692"/>
            <a:ext cx="7468642" cy="49251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73DBBD-4644-9D4B-E6E4-8B318439F03A}"/>
              </a:ext>
            </a:extLst>
          </p:cNvPr>
          <p:cNvSpPr txBox="1"/>
          <p:nvPr/>
        </p:nvSpPr>
        <p:spPr>
          <a:xfrm>
            <a:off x="7833791" y="2141014"/>
            <a:ext cx="90142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TM – TEM heavy initially</a:t>
            </a:r>
          </a:p>
          <a:p>
            <a:r>
              <a:rPr lang="en-AU" sz="2000" dirty="0"/>
              <a:t>SOL – steep early contraction of TEM</a:t>
            </a:r>
          </a:p>
          <a:p>
            <a:r>
              <a:rPr lang="en-AU" sz="2000" dirty="0"/>
              <a:t>IC – smooth transition into TCM</a:t>
            </a:r>
          </a:p>
          <a:p>
            <a:r>
              <a:rPr lang="en-AU" sz="2000" dirty="0"/>
              <a:t>TMd21 – slowest TCM accumulator</a:t>
            </a:r>
          </a:p>
        </p:txBody>
      </p:sp>
    </p:spTree>
    <p:extLst>
      <p:ext uri="{BB962C8B-B14F-4D97-AF65-F5344CB8AC3E}">
        <p14:creationId xmlns:p14="http://schemas.microsoft.com/office/powerpoint/2010/main" val="263076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160</Words>
  <Application>Microsoft Office PowerPoint</Application>
  <PresentationFormat>Widescreen</PresentationFormat>
  <Paragraphs>27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CD8 tet+</vt:lpstr>
      <vt:lpstr>PowerPoint Presentation</vt:lpstr>
      <vt:lpstr>CD8 tet+ CD127+ CD62L+ CX3CR1-KLRG1- TCM</vt:lpstr>
      <vt:lpstr>PowerPoint Presentation</vt:lpstr>
      <vt:lpstr>CD8 tet+ KLRG1+ CD127- effector</vt:lpstr>
      <vt:lpstr>PowerPoint Presentation</vt:lpstr>
      <vt:lpstr>CD8 tet+ CD62L- CX3CR1hi TEM</vt:lpstr>
      <vt:lpstr>PowerPoint Presentation</vt:lpstr>
      <vt:lpstr>CD8</vt:lpstr>
      <vt:lpstr>CD4 tet+</vt:lpstr>
      <vt:lpstr>PowerPoint Presentation</vt:lpstr>
      <vt:lpstr>CD4 tet+ Ly6C+ FOXP3- Teff</vt:lpstr>
      <vt:lpstr>PowerPoint Presentation</vt:lpstr>
      <vt:lpstr>CD4 tet+ TFH</vt:lpstr>
      <vt:lpstr>PowerPoint Presentation</vt:lpstr>
      <vt:lpstr>CD4</vt:lpstr>
      <vt:lpstr>Conversion</vt:lpstr>
      <vt:lpstr>Conversion</vt:lpstr>
      <vt:lpstr>Ratio of TEM to TCM (based on CD62L expression)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2</cp:revision>
  <dcterms:created xsi:type="dcterms:W3CDTF">2026-09-17T02:23:04Z</dcterms:created>
  <dcterms:modified xsi:type="dcterms:W3CDTF">2026-09-17T04:12:54Z</dcterms:modified>
</cp:coreProperties>
</file>