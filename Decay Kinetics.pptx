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71" r:id="rId2"/>
    <p:sldId id="284" r:id="rId3"/>
    <p:sldId id="272" r:id="rId4"/>
    <p:sldId id="273" r:id="rId5"/>
    <p:sldId id="285" r:id="rId6"/>
    <p:sldId id="274" r:id="rId7"/>
    <p:sldId id="275" r:id="rId8"/>
    <p:sldId id="286" r:id="rId9"/>
    <p:sldId id="276" r:id="rId10"/>
    <p:sldId id="277" r:id="rId11"/>
    <p:sldId id="287" r:id="rId12"/>
    <p:sldId id="278" r:id="rId13"/>
    <p:sldId id="279" r:id="rId14"/>
    <p:sldId id="257" r:id="rId15"/>
    <p:sldId id="289" r:id="rId16"/>
    <p:sldId id="258" r:id="rId17"/>
    <p:sldId id="259" r:id="rId18"/>
    <p:sldId id="288" r:id="rId19"/>
    <p:sldId id="260" r:id="rId20"/>
    <p:sldId id="261" r:id="rId21"/>
    <p:sldId id="290" r:id="rId22"/>
    <p:sldId id="262" r:id="rId23"/>
    <p:sldId id="280" r:id="rId24"/>
    <p:sldId id="281" r:id="rId25"/>
    <p:sldId id="282" r:id="rId26"/>
    <p:sldId id="283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D1512D-31BA-4C40-9BFB-70FC430AAA82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4BE6D0-D5F3-4085-9F8B-D873F848485C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60441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8F525-50D8-3607-5B97-AD54AE6E0E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D734D0-8FA3-A21C-C1B4-A098303562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1707F9-BD8B-7057-BB4F-1B28A9EBA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365101-6A91-4643-B819-41C228967F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853730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2562B-7D92-113F-C172-8D2CCD72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133FBB6-F9E1-1B60-4CA7-EB82589A44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B7EE27-2F4F-D528-A40C-60D33785B9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1A2EE2-9841-D8DD-8298-CE70A8B941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5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133914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54F039-20CC-93CE-5B97-A62B05F46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6FF69B-527A-FCDE-905B-F28377065D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ED5B75-A627-233C-A147-9D873F358F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8A5F4-7D9F-8BAF-070B-FDD3110E07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501643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2E9E0-25C5-7D35-B309-D8FEF7F36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363637-F6DD-FBA3-A52F-3DF0B33BDA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499C5A-F1E7-1983-0523-DE6F681D76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03AB91-5771-5806-EADD-55ED14CC5A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922800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57C0E-1972-5D56-A6FC-A0B7AF95D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C016DF4-80E7-CFFC-4F60-FC398E5AED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C42DA3-8C0E-BEF8-98E3-294EA822AE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E485F5-8B09-DACC-39E6-7FEA33E8DA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10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108883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494D8-C0AE-9CF6-0643-B65E9BD468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4D2395-4B0B-33F2-6726-8D734E4125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0B2464-5273-26EA-2904-6CF0C7DA9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A9BBA-1E58-D4B2-0B07-165EDEB4DE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4BE6D0-D5F3-4085-9F8B-D873F848485C}" type="slidenum">
              <a:rPr lang="en-AU" smtClean="0"/>
              <a:t>11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30216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A5D39-AE2B-DCD2-9B0E-4232A2EA80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7A59330-6581-3257-B508-3C34F2A88A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A251-45BF-56EC-27E9-6AE4530BA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586FEA-5261-E91D-CE8B-0A76E386A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0B638C-D62B-3545-D2C6-D1E55CEF7F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153641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B95A8-B993-AEB8-B6A0-AC0C88CB5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027D09-F81B-47F5-2D88-F0EE87EA0B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80186C-E90B-752D-A346-5948F155D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D126D7-0916-A71A-93F7-8C682C59F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C5C036-4B8B-0792-E48E-FD57565BF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393786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867DC-ACBC-1993-59B1-6C1DE3A2EE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1BBA45-42F3-3E46-8A9C-02032C0DBC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A2B91-54DA-BB52-2C4E-0F7C233E40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E4A6F8-4F67-8DD6-C205-079B828326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1FA120-7A09-5B07-4DB6-B07A7D70E6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13371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0DA57-F220-4FCB-6D22-CE62049F29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5C367-A624-D649-1AB7-E65BC6C3F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0AD6A6B-96AA-5DC2-97A8-76AC00C864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666D84-5969-5C64-517C-C0EA359C6F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119FEF-0E2D-7808-4769-F97B26023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191625-B0D3-46F6-9CA1-9FB0890B8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282091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D35A79-41DE-2FF9-37D8-4D781313E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8AA77D-7528-CCF2-F460-B63DD8B3DA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F1C617-87D6-249E-B7ED-D6DD97F1082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781BA7-D39F-F4FC-C0BD-D415C00CF8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8029B1-5E62-761B-7560-203B54CE0BF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4CC5EF1-774B-AE4C-B8AD-17180965A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1F86AC2-6A87-8071-00EE-3A222036EA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71B4D4-3CB0-160D-CC25-46FBCFC05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533994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B1FCBB-6E30-042E-2A0E-51B21E69C5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0C985B-180C-F52B-09B6-FC3DEE6C57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F421A3-58EF-6BCC-C195-9E1B7DF11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5FA0257-4252-38DB-B00B-27814BD76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517842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72D7DBF-F99C-F0B6-613E-9E9618240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FED5FB-1984-BA3B-AAA2-B12245031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7B59D9-B43D-5840-CB5B-520BEB8155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928048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7612C-10AF-D520-E609-A59C1494CA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6959D9-E8FE-7DC5-283B-6DC215E540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4D99F0-09B1-ED69-6F76-70B8E622B7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CCF4BA-B370-D748-7857-CB896BCAD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1D55AE-E878-9C30-1D83-8B958354E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5B43A8-B784-63A2-C78D-E67CD9369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99345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C4F08-9BE8-A9C8-7B57-54A4973584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C4A446-A4CD-D7BF-683E-6867CE9742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472C76-01C8-E02C-18EF-6FD4ED43DE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EFB18C-28E6-318C-67E8-328ACAAC7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9DC14F-6A6C-EDF5-FFFA-E2BCD6566C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3F093D-2E43-DBC4-6CF4-BAC7D3A08F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619363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4BB49-E509-E058-584A-948E7D1E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8B6131-8D49-900C-F050-9F20388E8FB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A2B25-C5A6-2807-0365-09CA3FF95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97AC06-35C7-A365-7FE9-3F5CBB1AC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A62DAE-2AE7-1308-3BE4-AF8CD3741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0080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DF5E9-37DF-2A85-880E-41BAA19F2F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03367D-4702-CC64-0C61-139A6054FE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2690FF-B2D0-1EC7-476D-7F711D28E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BFD37E-0DEB-B8F9-0D64-20CB69931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8872DB-2669-7BE4-7F53-3149C63C8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38690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6F3710-3B36-85BA-035A-8C812EC320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46B840-DFA3-8D48-93D4-712E38FECD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0B9084-900D-C208-6129-A8E7C18A68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DB691C-6365-487C-9B0B-C92D3508E265}" type="datetimeFigureOut">
              <a:rPr lang="en-AU" smtClean="0"/>
              <a:t>22/09/2026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85DFE-3C88-E3BC-01B9-5BFAA2BA558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31F68-9463-8644-BB91-AF70228690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D66B66-C1AE-4021-8E1E-84FCAB2403E2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715920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9.png"/><Relationship Id="rId4" Type="http://schemas.openxmlformats.org/officeDocument/2006/relationships/image" Target="../media/image33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5.png"/><Relationship Id="rId4" Type="http://schemas.openxmlformats.org/officeDocument/2006/relationships/image" Target="../media/image44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B8F7F-BF30-90F0-97DA-3BBBC5FF70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ABF9E-E943-351E-2AB2-89C130C5E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0AFB19-1368-7255-FE90-443DFEDA0C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8160" y="1371589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44301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9A0F8-8D36-31F4-AD6B-04DB4B607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330C41-4E1F-C04B-85A0-82B8A306D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F08E0A-371F-4F3E-6E38-485D37223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571621"/>
            <a:ext cx="6364234" cy="39776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CFD5CAD-5D44-E534-D7F4-09555C96C2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29651" y="1571621"/>
            <a:ext cx="6486156" cy="4053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46468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529F94-87A1-D9FE-8E12-882A45773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6BD3B12-0E0A-E5FB-D015-C6479A6C34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031" y="1209671"/>
            <a:ext cx="4546970" cy="303131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39C6C4-A564-87FB-63C8-A7D57FEFF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1847" y="1505725"/>
            <a:ext cx="1339319" cy="5802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C398622-0E0F-A744-2883-FE73F8770D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1231" y="30860"/>
            <a:ext cx="4765738" cy="317715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934099B-13F7-987C-6A94-97B7B7C662C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15200" y="3575940"/>
            <a:ext cx="4876800" cy="32512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CA5B303-A1BB-01C3-BF28-3166B43E57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721" y="319168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795E2A7-72D4-F600-8A35-44F2402A05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9722" y="5875414"/>
            <a:ext cx="1339319" cy="58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064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7CAB25-8F29-D042-98AA-BC3FA4CFC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164D6-FE1B-785E-83BE-15C759C0E7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CD127+ CD62L+ CX3CR1-KLRG1- TCM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2EF965-1015-AFCB-895F-FD0C4E712CA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1371589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8169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8E4DA-6C23-F01F-0399-18DEBBE76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BF3AAB-A286-2ABD-4DF0-8304D1D7A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CD127+ CD62L+ CX3CR1-KLRG1- TCM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E27F986-9F7A-EA31-CD23-15E4B352A2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21"/>
            <a:ext cx="6382521" cy="3989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F0A74F2-6843-ABF6-C93B-3DBE855B8F6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1571621"/>
            <a:ext cx="6382521" cy="398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593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E91E61-9EE9-13EB-92F3-ED517D66B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A7190D5-0C98-E2D3-7B62-159986F71D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6600" y="3454400"/>
            <a:ext cx="5105400" cy="34036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A895DB5-3E61-ECF1-83A0-25F62B6BDF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4969" y="0"/>
            <a:ext cx="4957031" cy="330468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91585FD-8DB9-1A2B-B74E-CC223DBD8AD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76397"/>
            <a:ext cx="4546971" cy="303131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460215-43B5-0BA0-8090-A77DF24795E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35472" y="1953400"/>
            <a:ext cx="1339319" cy="5802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DC19020-5897-A3CC-174A-19AC13316A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8855" y="1602193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43A9B0F-01C5-3660-0F4C-C1FC3B5956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8048" y="3820300"/>
            <a:ext cx="1339319" cy="58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5225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F2E10-9526-C299-426F-D70D19BEE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87725-FC5E-E06B-9982-827A1C42AC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KLRG1+ CD127- effector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50DA76C-E04B-458D-5AC0-CF34563AC6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42" y="1371589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962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22BD6-5A03-0BBB-7375-2C3FC636F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6FC29-BC74-604A-7A5E-9BDA777564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KLRG1+ CD127- effector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8BE0938-7BFF-398C-BE3B-AFC58CCF3A1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21"/>
            <a:ext cx="6382521" cy="39890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E99AFA4-9D97-8F6D-B384-86B06B49D27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6496" y="1571620"/>
            <a:ext cx="6382521" cy="3989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758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015F-CFB8-FC04-BBC7-B4BF8C60A5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E5EFEAAB-07B1-1CFF-8640-41C376E4FA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3092" y="3520441"/>
            <a:ext cx="4978908" cy="331927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9049012-CBFE-1B49-004B-1654DB6DF6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3092" y="1"/>
            <a:ext cx="4978908" cy="331927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4E1BBF7-2F40-5066-89CB-8742B50951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3" y="1471609"/>
            <a:ext cx="4414832" cy="294322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3EF12D7-6E83-E846-10A2-6840699F6D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3056" y="3429000"/>
            <a:ext cx="1339319" cy="5802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57E9A21-D67C-B47C-E40A-AC823A7BCB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48855" y="1602193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0B8E8BD5-6F96-D95A-7392-7FDC61B5FB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2912" y="5804548"/>
            <a:ext cx="1339319" cy="58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3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4E5289-3CFF-8EAF-1259-AE74E1A06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A6375-D79D-3179-9BD6-32AA5DED6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CD62L- CX3CR1hi TEM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D451F3C-D473-2C3A-625D-CCCE7EDBCA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1390639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2547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B9B5A-E8E3-FDB3-05DF-4F590A2D24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EE57FD-73C9-E94C-D1BA-69D4CBAB3F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CD62L- CX3CR1hi TEM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916AF9-4202-D9F4-157D-99BA195BB6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71620"/>
            <a:ext cx="6497735" cy="4061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53A4D27-0046-12DF-4420-EE758263922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1571620"/>
            <a:ext cx="6497735" cy="4061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250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EACF75-6194-C95F-B2A5-20AF628BF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1F12372-1C2A-6049-8C57-9BE6E2FB7F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85661" y="3502154"/>
            <a:ext cx="5006339" cy="33375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E43731C-8370-0FA9-DF7B-39E9309FD0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229" y="18287"/>
            <a:ext cx="5006339" cy="333755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4F789D4B-2C06-759A-7BCF-9505AEA42F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773933"/>
            <a:ext cx="4375410" cy="29169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BAC61C9-8AF7-A957-9A04-35A0F50F97C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7706" y="3805280"/>
            <a:ext cx="1245252" cy="53949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0CEE447-04D4-516C-479A-02363EBFB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2477" y="322033"/>
            <a:ext cx="1339319" cy="58025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9D7EEC7-4719-5E14-D93E-4AC96BA470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58721" y="3800299"/>
            <a:ext cx="1211360" cy="524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00823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1D279-90F8-6A2A-CA47-56D60BAA2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CD8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EE1AA-E2F8-22FF-20EA-63C2DEE09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No evidence that decay rate is different across the 4 vaccine groups</a:t>
            </a:r>
          </a:p>
          <a:p>
            <a:r>
              <a:rPr lang="en-AU" dirty="0"/>
              <a:t>This is true for all subsets</a:t>
            </a:r>
          </a:p>
        </p:txBody>
      </p:sp>
    </p:spTree>
    <p:extLst>
      <p:ext uri="{BB962C8B-B14F-4D97-AF65-F5344CB8AC3E}">
        <p14:creationId xmlns:p14="http://schemas.microsoft.com/office/powerpoint/2010/main" val="1919189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D6CAF-BEB7-6FAD-D782-BEC83A0534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6B6B0BC-D1C5-042D-5788-DA912B13CB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1792" y="1371589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373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085E1-5984-CE97-3981-FA326A950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10CEC-95B8-8834-0983-909D0D83D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6840C6-A4AE-7483-5187-4BE554ABCF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67" y="1690688"/>
            <a:ext cx="6364233" cy="397764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85DB10-8392-5D18-BB1B-8CDA3C0A3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67" y="1690689"/>
            <a:ext cx="6364233" cy="3977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0024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8D8E-EA0F-E991-2494-1B6950FF7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D475E4AC-C7D3-571B-FEE7-10A19BA22EE7}"/>
              </a:ext>
            </a:extLst>
          </p:cNvPr>
          <p:cNvGrpSpPr/>
          <p:nvPr/>
        </p:nvGrpSpPr>
        <p:grpSpPr>
          <a:xfrm>
            <a:off x="7544672" y="3615152"/>
            <a:ext cx="4622298" cy="3081532"/>
            <a:chOff x="7569702" y="3615152"/>
            <a:chExt cx="4622298" cy="3081532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ADA4AEDD-A0D1-DF70-AA97-53FDCE8B671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9702" y="3615152"/>
              <a:ext cx="4622298" cy="3081532"/>
            </a:xfrm>
            <a:prstGeom prst="rect">
              <a:avLst/>
            </a:prstGeom>
          </p:spPr>
        </p:pic>
        <p:pic>
          <p:nvPicPr>
            <p:cNvPr id="44" name="Picture 43">
              <a:extLst>
                <a:ext uri="{FF2B5EF4-FFF2-40B4-BE49-F238E27FC236}">
                  <a16:creationId xmlns:a16="http://schemas.microsoft.com/office/drawing/2014/main" id="{2D67E9EF-08AF-D975-9DE0-F6026FB76B5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69212" y="5553410"/>
              <a:ext cx="1681706" cy="682798"/>
            </a:xfrm>
            <a:prstGeom prst="rect">
              <a:avLst/>
            </a:prstGeom>
          </p:spPr>
        </p:pic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9B0C628B-FA60-A0B9-171E-CF66516520B4}"/>
              </a:ext>
            </a:extLst>
          </p:cNvPr>
          <p:cNvGrpSpPr/>
          <p:nvPr/>
        </p:nvGrpSpPr>
        <p:grpSpPr>
          <a:xfrm>
            <a:off x="0" y="1613910"/>
            <a:ext cx="4622298" cy="3081532"/>
            <a:chOff x="6862" y="668783"/>
            <a:chExt cx="4622298" cy="3081532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CDDD3BD-FC32-D5BB-0B9C-5F13685BEEE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862" y="668783"/>
              <a:ext cx="4622298" cy="3081532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34A6EC9C-B143-E453-8CB0-0B08CB6E4D3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63669" y="2546939"/>
              <a:ext cx="1681706" cy="682798"/>
            </a:xfrm>
            <a:prstGeom prst="rect">
              <a:avLst/>
            </a:prstGeom>
          </p:spPr>
        </p:pic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D73B31A4-ABF8-E4DC-324A-139CB7602113}"/>
              </a:ext>
            </a:extLst>
          </p:cNvPr>
          <p:cNvGrpSpPr/>
          <p:nvPr/>
        </p:nvGrpSpPr>
        <p:grpSpPr>
          <a:xfrm>
            <a:off x="7544672" y="73144"/>
            <a:ext cx="4622298" cy="3081532"/>
            <a:chOff x="7569702" y="0"/>
            <a:chExt cx="4622298" cy="308153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6F66A83-9C30-DFC0-FDA2-52DD3F43CB6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69702" y="0"/>
              <a:ext cx="4622298" cy="3081532"/>
            </a:xfrm>
            <a:prstGeom prst="rect">
              <a:avLst/>
            </a:prstGeom>
          </p:spPr>
        </p:pic>
        <p:pic>
          <p:nvPicPr>
            <p:cNvPr id="68" name="Picture 67">
              <a:extLst>
                <a:ext uri="{FF2B5EF4-FFF2-40B4-BE49-F238E27FC236}">
                  <a16:creationId xmlns:a16="http://schemas.microsoft.com/office/drawing/2014/main" id="{6F81EDE6-AC99-4EA9-58B2-987D56050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040112" y="308403"/>
              <a:ext cx="1679396" cy="75773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11982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A79BF-9BA3-EFA9-8F6F-2C59B9ECD6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6819F-5BFC-F67B-C4CF-C0ECB6A4F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Ly6C+ FOXP3- Teff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60D2CD-B1BA-FC8A-F476-5231446E08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8392" y="1257294"/>
            <a:ext cx="7315215" cy="5486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99269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E4D39E-FE9E-37FB-8733-4A2C05E2C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BDCBA-8025-676A-E098-D164258D91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Ly6C+ FOXP3- Teff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59205DC-60BA-003A-73D5-F41B921F82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19432"/>
            <a:ext cx="6364234" cy="39776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2D9E2E-1741-C21F-A396-E00BCF89A7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6900" y="1655060"/>
            <a:ext cx="6364234" cy="39776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12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E6A43-13C2-9408-9307-9DF8F1BD0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DA9048-7E1C-EEF4-C939-293B52A23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592" y="1422032"/>
            <a:ext cx="4622299" cy="3081532"/>
          </a:xfrm>
          <a:prstGeom prst="rect">
            <a:avLst/>
          </a:prstGeom>
        </p:spPr>
      </p:pic>
      <p:pic>
        <p:nvPicPr>
          <p:cNvPr id="46" name="Picture 45">
            <a:extLst>
              <a:ext uri="{FF2B5EF4-FFF2-40B4-BE49-F238E27FC236}">
                <a16:creationId xmlns:a16="http://schemas.microsoft.com/office/drawing/2014/main" id="{863EDACE-630C-E832-6643-A54BC251BD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44672" y="46858"/>
            <a:ext cx="4544736" cy="3029824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54FEA435-F01F-90A5-782C-78521FD6D4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8779" y="1976733"/>
            <a:ext cx="1419542" cy="710822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3C59B2D3-5384-DEF6-407C-F14D9B54893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9529" y="3468216"/>
            <a:ext cx="4615022" cy="3076681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925CB96D-AE53-DDD7-F1D4-FE2A19CBD9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80684" y="3834696"/>
            <a:ext cx="1543865" cy="668868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D0FDE44B-7994-FBFE-0CB9-60249D8705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224" y="3381841"/>
            <a:ext cx="1543865" cy="66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95773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5EA095-D7D0-BE8B-71E7-7CD1E2441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F1801-E30D-AC18-3894-C5A476503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TFH</a:t>
            </a:r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6E8B1F-8C20-8917-3644-D672AF79459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192" y="1371589"/>
            <a:ext cx="7315215" cy="54864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ED384E-A516-393D-6D94-266D6798DD7D}"/>
              </a:ext>
            </a:extLst>
          </p:cNvPr>
          <p:cNvSpPr txBox="1"/>
          <p:nvPr/>
        </p:nvSpPr>
        <p:spPr>
          <a:xfrm>
            <a:off x="6377939" y="5486411"/>
            <a:ext cx="60944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400" b="1" dirty="0"/>
              <a:t>Only 1 here? very low frequency, probably</a:t>
            </a:r>
          </a:p>
        </p:txBody>
      </p:sp>
    </p:spTree>
    <p:extLst>
      <p:ext uri="{BB962C8B-B14F-4D97-AF65-F5344CB8AC3E}">
        <p14:creationId xmlns:p14="http://schemas.microsoft.com/office/powerpoint/2010/main" val="306964635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04BC9-3D2E-D12D-0F8D-25B71D3C4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F36987-F89D-CADC-A8EA-D7EC439C1C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 </a:t>
            </a:r>
            <a:r>
              <a:rPr lang="en-AU" dirty="0" err="1"/>
              <a:t>tet</a:t>
            </a:r>
            <a:r>
              <a:rPr lang="en-AU" dirty="0"/>
              <a:t>+ </a:t>
            </a:r>
            <a:r>
              <a:rPr lang="en-AU" dirty="0">
                <a:effectLst/>
              </a:rPr>
              <a:t>TFH</a:t>
            </a:r>
            <a:endParaRPr lang="en-AU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310110-7E17-5BDD-3D5C-BD3D6C2F8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8"/>
            <a:ext cx="6307230" cy="394201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58FB95E-A70B-A39F-8520-7BC3A262CF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74785" y="1690688"/>
            <a:ext cx="6307230" cy="3942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6229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DFA40-55FA-4D5D-63EB-3AAB7E3A7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7BBF1D5D-D64A-B419-AAED-563AA955C1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6978" y="3487460"/>
            <a:ext cx="4595022" cy="3063348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C247F749-A098-3748-AD84-6F6284C360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42989" y="3844630"/>
            <a:ext cx="1543865" cy="66886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D98028B6-A13E-2C14-27BE-5B5619B41F6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06" y="1528503"/>
            <a:ext cx="4770993" cy="3180662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E7C8A808-004A-5C1D-7886-468243735C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6284" y="-1"/>
            <a:ext cx="4433410" cy="2955607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100B55A5-043C-08A9-AD2B-03FF69F6E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73971" y="1970222"/>
            <a:ext cx="1543865" cy="668868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9C645EBA-5007-6BCF-3C58-C4071C7C5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352" y="307192"/>
            <a:ext cx="1543865" cy="668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308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52D8E-2104-A3E8-D50E-6C0288622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9F722-579E-E19A-5EAB-8D82BBCCC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CD4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C161CC-6B58-4C7B-7960-23DA18DA2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Fastest decay in TM and slowest in IC (with CD4 </a:t>
            </a:r>
            <a:r>
              <a:rPr lang="en-AU" dirty="0" err="1"/>
              <a:t>tet</a:t>
            </a:r>
            <a:r>
              <a:rPr lang="en-AU" dirty="0"/>
              <a:t>+)</a:t>
            </a:r>
          </a:p>
          <a:p>
            <a:r>
              <a:rPr lang="en-AU" dirty="0"/>
              <a:t>No clear difference in decay of TFH and Teff across the 4 vaccine groups</a:t>
            </a:r>
          </a:p>
        </p:txBody>
      </p:sp>
    </p:spTree>
    <p:extLst>
      <p:ext uri="{BB962C8B-B14F-4D97-AF65-F5344CB8AC3E}">
        <p14:creationId xmlns:p14="http://schemas.microsoft.com/office/powerpoint/2010/main" val="1887634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5D7-CC85-C95D-A5F7-054F76CC5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Conversion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7572E8-E88B-DBCA-6213-50F04A7C21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Looking at the conversion of CD62L low to CD62L hi</a:t>
            </a:r>
          </a:p>
          <a:p>
            <a:r>
              <a:rPr lang="en-AU" dirty="0"/>
              <a:t>This conversion is ‘well-defined’ in literature?</a:t>
            </a:r>
          </a:p>
          <a:p>
            <a:r>
              <a:rPr lang="en-AU" dirty="0"/>
              <a:t>Get the ratio of CD62L low to CD62L high overtime</a:t>
            </a:r>
          </a:p>
          <a:p>
            <a:endParaRPr lang="en-AU" dirty="0"/>
          </a:p>
          <a:p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007125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ABB23-8128-BC1D-FB6F-8B7EC58FD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AFE4B-21F3-6C3D-4148-F5139360D7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Conversion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84DCA8A-288E-26D0-4E63-ECB15D0467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45961"/>
            <a:ext cx="5400224" cy="40501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D1B957-CB52-1EFE-D2C7-79254105CC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3225" y="1545959"/>
            <a:ext cx="5400226" cy="40501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5988B88-AAD2-CEA6-2B6F-1FBC10D7AD63}"/>
              </a:ext>
            </a:extLst>
          </p:cNvPr>
          <p:cNvSpPr txBox="1"/>
          <p:nvPr/>
        </p:nvSpPr>
        <p:spPr>
          <a:xfrm>
            <a:off x="93726" y="6092765"/>
            <a:ext cx="609447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Hard to see what's going on here</a:t>
            </a:r>
          </a:p>
          <a:p>
            <a:r>
              <a:rPr lang="en-AU" sz="2000" dirty="0"/>
              <a:t>Accumulation of TCM 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726725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5BC1042-41AC-58F5-ECE8-D98EDEE5A6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57458"/>
            <a:ext cx="8165073" cy="530729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A4D4D52-3DAA-78BE-5783-47A2EBEC8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Ratio of TEM to TCM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73DBBD-4644-9D4B-E6E4-8B318439F03A}"/>
              </a:ext>
            </a:extLst>
          </p:cNvPr>
          <p:cNvSpPr txBox="1"/>
          <p:nvPr/>
        </p:nvSpPr>
        <p:spPr>
          <a:xfrm>
            <a:off x="7881085" y="2018466"/>
            <a:ext cx="901421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TM – TEM heavy initially</a:t>
            </a:r>
          </a:p>
          <a:p>
            <a:r>
              <a:rPr lang="en-AU" sz="2000" dirty="0"/>
              <a:t>SOL – steep early contraction of TEM</a:t>
            </a:r>
          </a:p>
          <a:p>
            <a:r>
              <a:rPr lang="en-AU" sz="2000" dirty="0"/>
              <a:t>IC – smooth transition into TCM</a:t>
            </a:r>
          </a:p>
          <a:p>
            <a:r>
              <a:rPr lang="en-AU" sz="2000" dirty="0"/>
              <a:t>TMd21 – slowest TCM accumulator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2956B5-FC9C-8DD1-BC00-877C3690AF3E}"/>
              </a:ext>
            </a:extLst>
          </p:cNvPr>
          <p:cNvSpPr txBox="1"/>
          <p:nvPr/>
        </p:nvSpPr>
        <p:spPr>
          <a:xfrm>
            <a:off x="8500620" y="5870806"/>
            <a:ext cx="842284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000" dirty="0"/>
              <a:t>Everything is similar at d60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630766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</TotalTime>
  <Words>214</Words>
  <Application>Microsoft Office PowerPoint</Application>
  <PresentationFormat>Widescreen</PresentationFormat>
  <Paragraphs>40</Paragraphs>
  <Slides>26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Aptos</vt:lpstr>
      <vt:lpstr>Aptos Display</vt:lpstr>
      <vt:lpstr>Arial</vt:lpstr>
      <vt:lpstr>Office Theme</vt:lpstr>
      <vt:lpstr>CD8 tet+</vt:lpstr>
      <vt:lpstr>CD8 tet+</vt:lpstr>
      <vt:lpstr>PowerPoint Presentation</vt:lpstr>
      <vt:lpstr>CD8 tet+ CD127+ CD62L+ CX3CR1-KLRG1- TCM</vt:lpstr>
      <vt:lpstr>CD8 tet+ CD127+ CD62L+ CX3CR1-KLRG1- TCM</vt:lpstr>
      <vt:lpstr>PowerPoint Presentation</vt:lpstr>
      <vt:lpstr>CD8 tet+ KLRG1+ CD127- effector</vt:lpstr>
      <vt:lpstr>CD8 tet+ KLRG1+ CD127- effector</vt:lpstr>
      <vt:lpstr>PowerPoint Presentation</vt:lpstr>
      <vt:lpstr>CD8 tet+ CD62L- CX3CR1hi TEM</vt:lpstr>
      <vt:lpstr>CD8 tet+ CD62L- CX3CR1hi TEM</vt:lpstr>
      <vt:lpstr>PowerPoint Presentation</vt:lpstr>
      <vt:lpstr>CD8</vt:lpstr>
      <vt:lpstr>CD4 tet+</vt:lpstr>
      <vt:lpstr>CD4 tet+</vt:lpstr>
      <vt:lpstr>PowerPoint Presentation</vt:lpstr>
      <vt:lpstr>CD4 tet+ Ly6C+ FOXP3- Teff</vt:lpstr>
      <vt:lpstr>CD4 tet+ Ly6C+ FOXP3- Teff</vt:lpstr>
      <vt:lpstr>PowerPoint Presentation</vt:lpstr>
      <vt:lpstr>CD4 tet+ TFH</vt:lpstr>
      <vt:lpstr>CD4 tet+ TFH</vt:lpstr>
      <vt:lpstr>PowerPoint Presentation</vt:lpstr>
      <vt:lpstr>CD4</vt:lpstr>
      <vt:lpstr>Conversion</vt:lpstr>
      <vt:lpstr>Conversion</vt:lpstr>
      <vt:lpstr>Ratio of TEM to TCM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Arnold Reynaldi</dc:creator>
  <cp:lastModifiedBy>Arnold Reynaldi</cp:lastModifiedBy>
  <cp:revision>16</cp:revision>
  <dcterms:created xsi:type="dcterms:W3CDTF">2026-09-17T02:23:04Z</dcterms:created>
  <dcterms:modified xsi:type="dcterms:W3CDTF">2026-09-22T06:29:45Z</dcterms:modified>
</cp:coreProperties>
</file>