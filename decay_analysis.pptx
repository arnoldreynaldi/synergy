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41F4-BBD1-5B7C-89B9-73381949F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2F20D-6A8D-3C82-B0F5-40389D23C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54250-1A64-2272-01E7-34996FCD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ECAA4-B347-4468-64DE-E171DC5E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1E252-2175-65E6-7619-9B89D691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2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9D13-04F9-FEA9-9BFD-9B412E05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07B91-550E-44E0-C261-DEAFDC6D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38615-5A53-C820-F3D9-B607A94F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38BDE-6291-F782-3E2B-9B4D6D9F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2367C-40E6-151A-6713-902F3A0D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68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78C2-3DA9-F560-8018-FE1062EF0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D7CD6-D4D1-CE14-4839-5BED7EBC3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D0FE2-4718-87FA-7614-0DE7CD4F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20FB6-0F45-64E2-BA04-024B55CF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D6658-C6FA-1B08-0E22-3872E501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730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0C88-03C4-9DFB-C04E-72103D90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4E085-3AA0-474C-145F-FA845C70F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7542C-30F9-D0EA-B110-55C3C16CF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C768E-C9F8-C9B0-F64A-5EA68AF1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1EFB7-C407-D0DF-BBB4-749FACCD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1BD08-0DAE-A106-C480-63370BC9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69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4903-E34C-E2D5-C07A-B4A0B2D7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42355-CB77-F534-048A-C38DB021C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C001B-4E23-E0B5-2063-0A29F0633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32C3DB-F14C-4401-142D-B891E11AB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E3FE2-FA0C-5A52-7EA4-0B3806A4C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CDF8D-CCAB-B206-D5B1-A6EFDBEF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7E0A41-5559-55F2-F9E5-C9BBFC147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DD64B-1E11-A315-1A4E-7BF9E785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330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07B57-1B97-996A-09F1-4A5053B5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396E6-ACCD-0A8F-ACAD-96A4E4F2F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A21E1-3036-F1AE-1819-E64BA66B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981F0-77F0-09AC-5789-D7B6DCB1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57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0EDD0-5971-674B-B965-6BC46151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68887-59CE-BC68-68DC-B6317E7C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741C8-24ED-3974-7BB4-F442E547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26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BB0F-7207-AB26-FE22-87BD2DF8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4A1EB-AB57-9E5B-07AD-3486435C0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7B9C9-6E87-383E-2272-2EBDB0419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B342E-6757-8EAE-2050-DA5FC6AD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860B9-579E-0C9D-6B57-3569F23F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EE0EF-4F39-A2A7-24B0-24EAE6A2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066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5E7F-F7E7-A1B3-D0D2-0AC2F250D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75DAD-AA46-33B4-A7A5-C0D338040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CDAC2-8563-1C40-FFFC-2E397692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02BEA-C193-287B-AE0B-F76F2DC4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F0D15-5A57-8382-8BD3-84AD5302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E3207-3FF5-734A-F366-786025A2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76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92D8-0DF7-2FF6-ABE5-B5D6F9C6C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AB84F-3677-7866-E963-BD7CBD201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04321-3BD7-6B6B-406D-5AE9DE43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E4BAB-7072-A3E6-4F9E-BB2C3023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BD84C-5706-61C2-D8C9-C11CC650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140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08C4A-FB98-AFD8-190E-ECA40CBC6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6AFFC-1A07-DC3C-2A51-B9E7DF919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39258-5474-CB39-7A2F-1BFF9130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38F37-CE1A-9439-983B-6F2E5013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FB7C7-F085-9DCE-DF58-9829CC5F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71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D9680-5CB3-85B7-37EE-9E499FA7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F57CA-9D23-1569-02A1-1E387B313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5A7C2-3629-EEA6-C7E9-C89195089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2B6CC-56DE-4B08-9E39-292C0AB6A122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1D9C4-4C68-C18A-DA73-49E5A9BBB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16D96-6B1F-97E5-A9F0-585D5C7A8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A0382-98AA-496E-838D-121096BB6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29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0C5F-D195-DD5F-06A8-3958C2D528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CB651-5566-045A-6FFE-8AFC1A04FF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286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6765-0EFC-DED6-8629-EB2FBCF9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CD4 </a:t>
            </a:r>
            <a:r>
              <a:rPr lang="en-US" dirty="0" err="1"/>
              <a:t>tet</a:t>
            </a:r>
            <a:r>
              <a:rPr lang="en-US" dirty="0"/>
              <a:t>+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D26E23-32AC-EAAB-5547-46C11401D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0" y="1526453"/>
            <a:ext cx="7315215" cy="4572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1C35DF-ADA2-B0E7-14DA-483B77CAF6C2}"/>
              </a:ext>
            </a:extLst>
          </p:cNvPr>
          <p:cNvSpPr txBox="1"/>
          <p:nvPr/>
        </p:nvSpPr>
        <p:spPr>
          <a:xfrm>
            <a:off x="7207045" y="5249164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Doing </a:t>
            </a:r>
            <a:r>
              <a:rPr lang="en-US" sz="4400" dirty="0" err="1"/>
              <a:t>lm</a:t>
            </a:r>
            <a:r>
              <a:rPr lang="en-US" sz="4400" dirty="0"/>
              <a:t> fit for each group separately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8177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C9EA-2A1E-6364-132A-50713DFE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Biphasic decay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B780A-C724-8D63-EE79-2B950412A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to do with this data</a:t>
            </a:r>
          </a:p>
          <a:p>
            <a:r>
              <a:rPr lang="en-US" dirty="0"/>
              <a:t>Only 4 exact timepoints</a:t>
            </a:r>
          </a:p>
          <a:p>
            <a:r>
              <a:rPr lang="en-US" dirty="0"/>
              <a:t>No same mouse id (no longitudinal sampling)</a:t>
            </a:r>
          </a:p>
          <a:p>
            <a:r>
              <a:rPr lang="en-US" dirty="0"/>
              <a:t>The best to get biphasic decay is to fit a liner breakpoint model</a:t>
            </a:r>
          </a:p>
          <a:p>
            <a:r>
              <a:rPr lang="en-US" dirty="0"/>
              <a:t>Another complication – what is the breakpoint?</a:t>
            </a:r>
          </a:p>
          <a:p>
            <a:r>
              <a:rPr lang="en-US" dirty="0"/>
              <a:t>Currently, testing if the breakpoint s at the 2</a:t>
            </a:r>
            <a:r>
              <a:rPr lang="en-US" baseline="30000" dirty="0"/>
              <a:t>nd</a:t>
            </a:r>
            <a:r>
              <a:rPr lang="en-US" dirty="0"/>
              <a:t> or 3</a:t>
            </a:r>
            <a:r>
              <a:rPr lang="en-US" baseline="30000" dirty="0"/>
              <a:t>rd</a:t>
            </a:r>
            <a:r>
              <a:rPr lang="en-US" dirty="0"/>
              <a:t> timepoint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525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D594-C709-B73F-6B9A-DB881E95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24B63E-F1AF-9105-7ECA-DF84DD988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7" y="1400430"/>
            <a:ext cx="7315215" cy="4572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89F039-9488-4759-2D0E-B874F5A9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CD4 </a:t>
            </a:r>
            <a:r>
              <a:rPr lang="en-US" dirty="0" err="1"/>
              <a:t>tet</a:t>
            </a:r>
            <a:r>
              <a:rPr lang="en-US" dirty="0"/>
              <a:t>+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2A84E-C424-7285-AE3C-A31D422DF7FD}"/>
              </a:ext>
            </a:extLst>
          </p:cNvPr>
          <p:cNvSpPr txBox="1"/>
          <p:nvPr/>
        </p:nvSpPr>
        <p:spPr>
          <a:xfrm>
            <a:off x="6666271" y="4206977"/>
            <a:ext cx="563389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For each vaccine group, find the best breakpoint with lowest AIC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269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BC971-F5E8-9456-DE0D-3B3E4F992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C201-DA54-5A09-3209-DB7F601F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which model is the best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C3CF5-8E7A-F868-365B-84D22069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keep the intercept as free parameters for each group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33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4757-87F1-C4F8-D847-8A7C1026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580A2-11F8-562D-AAC7-F639765DB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model – total of 15 combinations</a:t>
            </a:r>
          </a:p>
          <a:p>
            <a:pPr lvl="1"/>
            <a:r>
              <a:rPr lang="en-AU" dirty="0"/>
              <a:t>Every vaccine has its own slope (4 slopes) – 1</a:t>
            </a:r>
          </a:p>
          <a:p>
            <a:pPr lvl="1"/>
            <a:r>
              <a:rPr lang="en-AU" dirty="0"/>
              <a:t>Choose which 2 of the 4 vaccines pair up (3 slopes, one shared for 2 </a:t>
            </a:r>
            <a:r>
              <a:rPr lang="en-AU" dirty="0" err="1"/>
              <a:t>grups</a:t>
            </a:r>
            <a:r>
              <a:rPr lang="en-AU" dirty="0"/>
              <a:t>, 2 different slopes) – C(4,2) = 6</a:t>
            </a:r>
          </a:p>
          <a:p>
            <a:pPr lvl="1"/>
            <a:r>
              <a:rPr lang="en-AU" dirty="0"/>
              <a:t>Two pairs : Pair them up (2 shared slopes) – 3</a:t>
            </a:r>
          </a:p>
          <a:p>
            <a:pPr lvl="1"/>
            <a:r>
              <a:rPr lang="en-AU" dirty="0"/>
              <a:t>Choose which 3 vaccines share a slope – C(4,3) = 4</a:t>
            </a: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74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89FA02-42F1-8C89-403F-D3D688845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565257"/>
              </p:ext>
            </p:extLst>
          </p:nvPr>
        </p:nvGraphicFramePr>
        <p:xfrm>
          <a:off x="2784399" y="360448"/>
          <a:ext cx="2490609" cy="6137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239">
                  <a:extLst>
                    <a:ext uri="{9D8B030D-6E8A-4147-A177-3AD203B41FA5}">
                      <a16:colId xmlns:a16="http://schemas.microsoft.com/office/drawing/2014/main" val="1031890388"/>
                    </a:ext>
                  </a:extLst>
                </a:gridCol>
                <a:gridCol w="2112370">
                  <a:extLst>
                    <a:ext uri="{9D8B030D-6E8A-4147-A177-3AD203B41FA5}">
                      <a16:colId xmlns:a16="http://schemas.microsoft.com/office/drawing/2014/main" val="2354947081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effectLst/>
                        </a:rPr>
                        <a:t>#</a:t>
                      </a:r>
                      <a:endParaRPr lang="en-AU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7416" marR="89888" marT="56180" marB="561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effectLst/>
                        </a:rPr>
                        <a:t>Slope combo</a:t>
                      </a:r>
                      <a:endParaRPr lang="en-AU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89888" marT="56180" marB="56180" anchor="ctr"/>
                </a:tc>
                <a:extLst>
                  <a:ext uri="{0D108BD9-81ED-4DB2-BD59-A6C34878D82A}">
                    <a16:rowId xmlns:a16="http://schemas.microsoft.com/office/drawing/2014/main" val="135576066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effectLst/>
                        </a:rPr>
                        <a:t>1</a:t>
                      </a:r>
                      <a:endParaRPr lang="en-AU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effectLst/>
                        </a:rPr>
                        <a:t>A | B | C | D</a:t>
                      </a:r>
                      <a:endParaRPr lang="en-AU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1012534207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AB | C | D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369120986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AC | B | D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41053923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lang="en-AU" sz="1400" b="0" i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AD | B | C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62582982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AU" sz="1400" b="0" i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BC | A | D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142350351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BD | A | C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297373795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endParaRPr lang="en-AU" sz="1400" b="0" i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FF0000"/>
                          </a:solidFill>
                          <a:effectLst/>
                        </a:rPr>
                        <a:t>CD | A | B</a:t>
                      </a:r>
                      <a:endParaRPr lang="en-AU" sz="1400" b="0" i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306719320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00B050"/>
                          </a:solidFill>
                          <a:effectLst/>
                        </a:rPr>
                        <a:t>8</a:t>
                      </a:r>
                      <a:endParaRPr lang="en-AU" sz="1400" b="0" i="0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00B050"/>
                          </a:solidFill>
                          <a:effectLst/>
                        </a:rPr>
                        <a:t>AB | CD</a:t>
                      </a:r>
                      <a:endParaRPr lang="en-AU" sz="1400" b="0" i="0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370386067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>
                          <a:solidFill>
                            <a:srgbClr val="00B050"/>
                          </a:solidFill>
                          <a:effectLst/>
                        </a:rPr>
                        <a:t>9</a:t>
                      </a:r>
                      <a:endParaRPr lang="en-AU" sz="1400" b="0" i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00B050"/>
                          </a:solidFill>
                          <a:effectLst/>
                        </a:rPr>
                        <a:t>AC | BD</a:t>
                      </a:r>
                      <a:endParaRPr lang="en-AU" sz="1400" b="0" i="0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375727199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00B050"/>
                          </a:solidFill>
                          <a:effectLst/>
                        </a:rPr>
                        <a:t>10</a:t>
                      </a:r>
                      <a:endParaRPr lang="en-AU" sz="1400" b="0" i="0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00B050"/>
                          </a:solidFill>
                          <a:effectLst/>
                        </a:rPr>
                        <a:t>AD | BC</a:t>
                      </a:r>
                      <a:endParaRPr lang="en-AU" sz="1400" b="0" i="0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210910153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11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ABC | D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9462445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12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ABD | C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74830262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13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ACD | B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238711590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14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7030A0"/>
                          </a:solidFill>
                          <a:effectLst/>
                        </a:rPr>
                        <a:t>BCD | A</a:t>
                      </a:r>
                      <a:endParaRPr lang="en-AU" sz="1400" b="0" i="0" dirty="0">
                        <a:solidFill>
                          <a:srgbClr val="7030A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72525272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00B0F0"/>
                          </a:solidFill>
                          <a:effectLst/>
                        </a:rPr>
                        <a:t>15</a:t>
                      </a:r>
                      <a:endParaRPr lang="en-AU" sz="1400" b="0" i="0" dirty="0">
                        <a:solidFill>
                          <a:srgbClr val="00B0F0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400" dirty="0">
                          <a:solidFill>
                            <a:srgbClr val="00B0F0"/>
                          </a:solidFill>
                          <a:effectLst/>
                        </a:rPr>
                        <a:t>ABCD</a:t>
                      </a:r>
                      <a:endParaRPr lang="en-AU" sz="1400" b="0" i="0" dirty="0">
                        <a:solidFill>
                          <a:srgbClr val="00B0F0"/>
                        </a:solidFill>
                        <a:effectLst/>
                        <a:latin typeface="quote-cjk-patch"/>
                      </a:endParaRPr>
                    </a:p>
                  </a:txBody>
                  <a:tcPr marL="89888" marR="67416" marT="56180" marB="56180" anchor="ctr"/>
                </a:tc>
                <a:extLst>
                  <a:ext uri="{0D108BD9-81ED-4DB2-BD59-A6C34878D82A}">
                    <a16:rowId xmlns:a16="http://schemas.microsoft.com/office/drawing/2014/main" val="5980328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D57FCF2-A68B-DB4C-F187-1873BA9093DB}"/>
              </a:ext>
            </a:extLst>
          </p:cNvPr>
          <p:cNvSpPr txBox="1"/>
          <p:nvPr/>
        </p:nvSpPr>
        <p:spPr>
          <a:xfrm>
            <a:off x="5275008" y="6624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Every vaccine has its own slope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ACDFC-3D29-D8B4-46D3-06D38BA7CB2C}"/>
              </a:ext>
            </a:extLst>
          </p:cNvPr>
          <p:cNvSpPr txBox="1"/>
          <p:nvPr/>
        </p:nvSpPr>
        <p:spPr>
          <a:xfrm>
            <a:off x="5275008" y="1930816"/>
            <a:ext cx="6508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3 slopes, one shared for 2 groups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57527A-7869-7CAF-0B98-27CAF388B5FC}"/>
              </a:ext>
            </a:extLst>
          </p:cNvPr>
          <p:cNvSpPr txBox="1"/>
          <p:nvPr/>
        </p:nvSpPr>
        <p:spPr>
          <a:xfrm>
            <a:off x="5275008" y="3690964"/>
            <a:ext cx="6715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B050"/>
                </a:solidFill>
              </a:rPr>
              <a:t>2 shared slopes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209949-F23C-B2AC-C142-463086AC0577}"/>
              </a:ext>
            </a:extLst>
          </p:cNvPr>
          <p:cNvSpPr txBox="1"/>
          <p:nvPr/>
        </p:nvSpPr>
        <p:spPr>
          <a:xfrm>
            <a:off x="5275008" y="4927892"/>
            <a:ext cx="6916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7030A0"/>
                </a:solidFill>
              </a:rPr>
              <a:t>which 3 vaccines share a slope </a:t>
            </a:r>
            <a:endParaRPr lang="en-AU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8BB13-2173-3789-7C66-BD127F0552DA}"/>
              </a:ext>
            </a:extLst>
          </p:cNvPr>
          <p:cNvSpPr txBox="1"/>
          <p:nvPr/>
        </p:nvSpPr>
        <p:spPr>
          <a:xfrm>
            <a:off x="5275008" y="60852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B0F0"/>
                </a:solidFill>
              </a:rPr>
              <a:t>Every vaccine different slope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780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CE87-13D6-66C3-BA6E-B2034FB8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Piecewise model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8EC10-4552-1199-8200-39A29AC5E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For each vaccine, the breakpoint is either 14 or 28. That's 2 options per vaccine × 4 vaccines = 16 combinations</a:t>
            </a:r>
          </a:p>
        </p:txBody>
      </p:sp>
    </p:spTree>
    <p:extLst>
      <p:ext uri="{BB962C8B-B14F-4D97-AF65-F5344CB8AC3E}">
        <p14:creationId xmlns:p14="http://schemas.microsoft.com/office/powerpoint/2010/main" val="3099578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E0DB9B-AE74-B481-22C6-16B14AB1A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55449"/>
              </p:ext>
            </p:extLst>
          </p:nvPr>
        </p:nvGraphicFramePr>
        <p:xfrm>
          <a:off x="1867498" y="554640"/>
          <a:ext cx="7296797" cy="574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4129">
                  <a:extLst>
                    <a:ext uri="{9D8B030D-6E8A-4147-A177-3AD203B41FA5}">
                      <a16:colId xmlns:a16="http://schemas.microsoft.com/office/drawing/2014/main" val="1784323169"/>
                    </a:ext>
                  </a:extLst>
                </a:gridCol>
                <a:gridCol w="1493167">
                  <a:extLst>
                    <a:ext uri="{9D8B030D-6E8A-4147-A177-3AD203B41FA5}">
                      <a16:colId xmlns:a16="http://schemas.microsoft.com/office/drawing/2014/main" val="3899823273"/>
                    </a:ext>
                  </a:extLst>
                </a:gridCol>
                <a:gridCol w="1493167">
                  <a:extLst>
                    <a:ext uri="{9D8B030D-6E8A-4147-A177-3AD203B41FA5}">
                      <a16:colId xmlns:a16="http://schemas.microsoft.com/office/drawing/2014/main" val="2272887831"/>
                    </a:ext>
                  </a:extLst>
                </a:gridCol>
                <a:gridCol w="1493167">
                  <a:extLst>
                    <a:ext uri="{9D8B030D-6E8A-4147-A177-3AD203B41FA5}">
                      <a16:colId xmlns:a16="http://schemas.microsoft.com/office/drawing/2014/main" val="3500909512"/>
                    </a:ext>
                  </a:extLst>
                </a:gridCol>
                <a:gridCol w="1493167">
                  <a:extLst>
                    <a:ext uri="{9D8B030D-6E8A-4147-A177-3AD203B41FA5}">
                      <a16:colId xmlns:a16="http://schemas.microsoft.com/office/drawing/2014/main" val="3706469202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#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A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B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C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D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extLst>
                  <a:ext uri="{0D108BD9-81ED-4DB2-BD59-A6C34878D82A}">
                    <a16:rowId xmlns:a16="http://schemas.microsoft.com/office/drawing/2014/main" val="69680925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407047983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150620781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3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14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38617925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188879204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5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28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360261400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6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203210832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7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28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427589567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8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28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25989729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9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407189697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10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349253356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11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28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120432580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12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208729908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13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14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272731080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14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14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28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11806991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15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14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219039642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16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3450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>
                          <a:effectLst/>
                        </a:rPr>
                        <a:t>28</a:t>
                      </a:r>
                      <a:endParaRPr lang="en-A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84601" marT="52875" marB="528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AU" sz="1200" dirty="0">
                          <a:effectLst/>
                        </a:rPr>
                        <a:t>28</a:t>
                      </a:r>
                      <a:endParaRPr lang="en-A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4601" marR="63450" marT="52875" marB="52875" anchor="ctr"/>
                </a:tc>
                <a:extLst>
                  <a:ext uri="{0D108BD9-81ED-4DB2-BD59-A6C34878D82A}">
                    <a16:rowId xmlns:a16="http://schemas.microsoft.com/office/drawing/2014/main" val="695871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8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2636-9D74-6F90-61C7-E293B367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66BA-57B8-A6A2-142B-CCFF6FCC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Piecewise model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4730D-4CD7-9BE7-69CB-5A66DC349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Same 15 combinations for the early decay like the linear model</a:t>
            </a:r>
          </a:p>
          <a:p>
            <a:r>
              <a:rPr lang="en-AU" dirty="0"/>
              <a:t>Same 15 combinations for the late decay like the linear model</a:t>
            </a:r>
          </a:p>
          <a:p>
            <a:r>
              <a:rPr lang="en-AU" dirty="0"/>
              <a:t>Total combination is 16x15x15 = 3600</a:t>
            </a:r>
          </a:p>
        </p:txBody>
      </p:sp>
    </p:spTree>
    <p:extLst>
      <p:ext uri="{BB962C8B-B14F-4D97-AF65-F5344CB8AC3E}">
        <p14:creationId xmlns:p14="http://schemas.microsoft.com/office/powerpoint/2010/main" val="829029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E1F1-7107-9FAC-6BFD-BD80DDA9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model (lowest AIC)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211D9-2DDF-E171-0643-1E398448E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72" y="1526452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475E9-EE69-7457-D399-795A79D2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736C-160D-BF7A-A2A3-C1477729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parsimonious model (lowest AIC)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3D903-CC00-7DEF-550B-61145FE2A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37" y="1457627"/>
            <a:ext cx="7315215" cy="4572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366880-D68E-41C9-7D02-03DF756515BB}"/>
              </a:ext>
            </a:extLst>
          </p:cNvPr>
          <p:cNvSpPr txBox="1"/>
          <p:nvPr/>
        </p:nvSpPr>
        <p:spPr>
          <a:xfrm>
            <a:off x="3736257" y="5750609"/>
            <a:ext cx="85638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Get all models with delta AIC &lt;10 and pick the least number of parameter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977498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E899-D9CD-4146-CF1E-80FEF9A5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CD8 </a:t>
            </a:r>
            <a:r>
              <a:rPr lang="en-US" dirty="0" err="1"/>
              <a:t>tet</a:t>
            </a:r>
            <a:r>
              <a:rPr lang="en-US" dirty="0"/>
              <a:t>+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A511A-1D3C-CD13-95E4-09AD1707E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76" y="1668565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85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B0907-C1FE-D89A-B94C-67AD4C36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3631-0DA7-9D3E-12C0-14FA0098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CD8 </a:t>
            </a:r>
            <a:r>
              <a:rPr lang="en-US" dirty="0" err="1"/>
              <a:t>tet</a:t>
            </a:r>
            <a:r>
              <a:rPr lang="en-US" dirty="0"/>
              <a:t>+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48EFA-31F4-6C64-4770-1C9826AF8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66" y="155595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0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454</Words>
  <Application>Microsoft Office PowerPoint</Application>
  <PresentationFormat>Widescreen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quote-cjk-patch</vt:lpstr>
      <vt:lpstr>Office Theme</vt:lpstr>
      <vt:lpstr>PowerPoint Presentation</vt:lpstr>
      <vt:lpstr>CD4 tet+</vt:lpstr>
      <vt:lpstr>Biphasic decay</vt:lpstr>
      <vt:lpstr>CD4 tet+</vt:lpstr>
      <vt:lpstr>Testing which model is the best</vt:lpstr>
      <vt:lpstr>Linear model</vt:lpstr>
      <vt:lpstr>PowerPoint Presentation</vt:lpstr>
      <vt:lpstr>Piecewise model</vt:lpstr>
      <vt:lpstr>PowerPoint Presentation</vt:lpstr>
      <vt:lpstr>Piecewise model</vt:lpstr>
      <vt:lpstr>The best model (lowest AIC)</vt:lpstr>
      <vt:lpstr>The best parsimonious model (lowest AIC)</vt:lpstr>
      <vt:lpstr>CD8 tet+</vt:lpstr>
      <vt:lpstr>CD8 tet+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Reynaldi</dc:creator>
  <cp:lastModifiedBy>Arnold Reynaldi</cp:lastModifiedBy>
  <cp:revision>2</cp:revision>
  <dcterms:created xsi:type="dcterms:W3CDTF">2026-09-14T01:45:44Z</dcterms:created>
  <dcterms:modified xsi:type="dcterms:W3CDTF">2026-09-14T02:16:33Z</dcterms:modified>
</cp:coreProperties>
</file>