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65" autoAdjust="0"/>
  </p:normalViewPr>
  <p:slideViewPr>
    <p:cSldViewPr snapToGrid="0">
      <p:cViewPr varScale="1">
        <p:scale>
          <a:sx n="75" d="100"/>
          <a:sy n="75" d="100"/>
        </p:scale>
        <p:origin x="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old Reynaldi" userId="92bd44c7-695d-4325-b9c2-7adc865c2b37" providerId="ADAL" clId="{451C2054-B413-4114-8A27-85698EEF6142}"/>
    <pc:docChg chg="delSld modSld">
      <pc:chgData name="Arnold Reynaldi" userId="92bd44c7-695d-4325-b9c2-7adc865c2b37" providerId="ADAL" clId="{451C2054-B413-4114-8A27-85698EEF6142}" dt="2026-08-24T05:49:06.862" v="1" actId="20577"/>
      <pc:docMkLst>
        <pc:docMk/>
      </pc:docMkLst>
      <pc:sldChg chg="del">
        <pc:chgData name="Arnold Reynaldi" userId="92bd44c7-695d-4325-b9c2-7adc865c2b37" providerId="ADAL" clId="{451C2054-B413-4114-8A27-85698EEF6142}" dt="2026-08-24T05:48:51.384" v="0" actId="47"/>
        <pc:sldMkLst>
          <pc:docMk/>
          <pc:sldMk cId="253645299" sldId="264"/>
        </pc:sldMkLst>
      </pc:sldChg>
      <pc:sldChg chg="modSp mod">
        <pc:chgData name="Arnold Reynaldi" userId="92bd44c7-695d-4325-b9c2-7adc865c2b37" providerId="ADAL" clId="{451C2054-B413-4114-8A27-85698EEF6142}" dt="2026-08-24T05:49:06.862" v="1" actId="20577"/>
        <pc:sldMkLst>
          <pc:docMk/>
          <pc:sldMk cId="384993786" sldId="266"/>
        </pc:sldMkLst>
        <pc:spChg chg="mod">
          <ac:chgData name="Arnold Reynaldi" userId="92bd44c7-695d-4325-b9c2-7adc865c2b37" providerId="ADAL" clId="{451C2054-B413-4114-8A27-85698EEF6142}" dt="2026-08-24T05:49:06.862" v="1" actId="20577"/>
          <ac:spMkLst>
            <pc:docMk/>
            <pc:sldMk cId="384993786" sldId="266"/>
            <ac:spMk id="3" creationId="{C3663787-F4C0-2352-E860-C4CFFE64094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A600-2D89-2894-6C41-4188C12993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BE59B-3D55-9CFD-606D-D38DDF3BB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06971-B07B-97C2-8E5F-BD3987436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6C888-F122-CA0A-C65D-B475875BE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246AB-8600-A7C3-718B-FB17FE36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7033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E84FA-224E-B145-9128-E2819CFD2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3F3E-D444-9308-F86D-B2F61389D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98E2F-9A3E-463C-B37C-3C6F79E4F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29E5-74C1-BD1B-499D-CFFB4E5A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59B54-8333-B4F8-95DC-4E794D709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3154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0A0BA-6915-C565-56D6-95FF63E3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228E4-22D3-2A86-830E-8DCD8C79D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BCB0F-FB8C-BBF8-B142-3BBF3901D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B4D17-0505-5EEF-8216-C112B5001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56F5B1-C571-8EF6-6EAA-1440316A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81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44328-D30E-2B0C-AD50-C51639DFB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D43A5-9123-59C2-DCC9-C183242BC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15CB1-F2A1-5680-3518-153E0F73B2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C75CC-192C-C7AE-77EC-8E2322CB0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EE2DC-727C-1469-823F-9295C96B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AB134-7404-63BC-88C5-2C66AC9A4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15047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40DC5-0722-BBFD-EB05-E1F02F43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FC359-B1F1-AE34-14FA-ACBAE0FD9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3F015-CF95-AFAB-19E0-47A49866F6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8520CB-94DC-94D0-2A6C-CD42646ED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08029D-E682-A28C-F5C9-D6E4F0AB7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462391-1FA6-FF9A-E1FD-4DF4A132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CF044E-9EE8-2F7A-D6C8-67BD9CDD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59C56E-25DA-B0D2-0513-447F779AD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636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704EF-755A-1C36-CB89-7CED272F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563C3-10AF-FB73-9A83-1C3C624B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98852-D338-0BCD-E105-0871CE7E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720D1-737F-20DD-56C5-E09E18122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705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45E8CD-3B67-DD7E-29A3-52A2B693E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15AB1-4650-91B9-1B3A-7672C34DD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EEC80-75FE-C2B5-04F0-14FA0F83E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315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14DB0-556C-39DD-B5BF-D8C0F5E0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3649-D2CC-E443-7A63-45F2781BE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C87B1-E831-809B-3111-479E60E4A5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E0B4F0-4BBB-6EE7-F0AC-7FBA65E62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C0793-2420-DDB0-3439-B2F3A76F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06C0A-961D-474F-B081-EF95BD3C3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477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C95C6-F771-C320-495E-AB63B0E52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59744-F6DC-7A36-3AA1-6D0119E820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FA965-88CF-4594-42BC-4C0D9A45A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F3A71-0C49-0711-35B1-99BAA113D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F80FD-5118-BF0F-ADED-F197A9DC3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94C51-5A38-EC6E-A7AD-B757C53F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048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5C94-16B2-CB2F-1F5B-76C68A07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EEADE-2975-E247-7A6B-723FD098C5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024C9-BAF1-C2F6-ADA7-DCC1EDA23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6B417-59E4-76D3-0C95-9E31B86A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22C72-27EF-CCBA-9D8B-734B82B91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934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25C14-0455-FF41-3784-5A3D87C4C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168DA-E36F-23B6-C01F-9D294E0896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F9B3D-BA83-68AA-24DB-2E9DD303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21A92-9A61-EF69-770B-D455EB992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7D3214-7108-8C17-59E0-DBBBDFF1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117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FAA8AA-1CE8-E228-9C69-5E42DB63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40973-0C5A-8FD4-F22B-6BCB4FE8CA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9883D-6EC4-5A45-5CEA-F7DF39F5E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8758E-B55A-4BBD-A743-F1CB784706AE}" type="datetimeFigureOut">
              <a:rPr lang="en-AU" smtClean="0"/>
              <a:t>24/08/2026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927117-D508-0783-80C6-85FEFEE14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22089-4F17-D858-4D2E-030DB90CCA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E29A9-4964-4DC0-AE1C-3AFCCF5019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248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0D97-DDC0-189E-BCCB-4EA91CE90A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960D0E-B23D-0BFF-1D47-13A2171007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3992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B3DA4-58CA-6047-67C8-F0D709C6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727" y="4693934"/>
            <a:ext cx="10515600" cy="1325563"/>
          </a:xfrm>
        </p:spPr>
        <p:txBody>
          <a:bodyPr/>
          <a:lstStyle/>
          <a:p>
            <a:r>
              <a:rPr lang="en-AU" dirty="0"/>
              <a:t>Bulk CD4 is not </a:t>
            </a:r>
            <a:br>
              <a:rPr lang="en-AU" dirty="0"/>
            </a:br>
            <a:r>
              <a:rPr lang="en-AU" dirty="0"/>
              <a:t>affected much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AC384F-E770-2FFC-E4E4-3DC413E664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4" y="429030"/>
            <a:ext cx="7999919" cy="599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29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9E9E-6D0C-4205-D314-ECDF8D64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093C9-AD77-92F6-3A81-C4A9FC2DF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4727" y="4693934"/>
            <a:ext cx="10515600" cy="1325563"/>
          </a:xfrm>
        </p:spPr>
        <p:txBody>
          <a:bodyPr/>
          <a:lstStyle/>
          <a:p>
            <a:r>
              <a:rPr lang="en-AU" dirty="0"/>
              <a:t>Bulk CD8 is not </a:t>
            </a:r>
            <a:br>
              <a:rPr lang="en-AU" dirty="0"/>
            </a:br>
            <a:r>
              <a:rPr lang="en-AU" dirty="0"/>
              <a:t>affected much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B5B740-84FB-091C-2CC3-A9D7B3A53F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70756"/>
            <a:ext cx="8280576" cy="621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40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1225-7CB5-3B4C-38E0-8746B1A29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715016F-87E7-7FF2-6185-F04C4CC0D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672"/>
            <a:ext cx="8180824" cy="6135618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9BA01B4-A044-1BFD-30F9-60A3087A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0274" y="512660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TM induces a very large </a:t>
            </a:r>
            <a:br>
              <a:rPr lang="en-AU" dirty="0"/>
            </a:br>
            <a:r>
              <a:rPr lang="en-AU" dirty="0"/>
              <a:t>early antigen-specific </a:t>
            </a:r>
            <a:br>
              <a:rPr lang="en-AU" dirty="0"/>
            </a:br>
            <a:r>
              <a:rPr lang="en-AU" dirty="0"/>
              <a:t>CD4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807735A1-5BC9-A77F-5D30-3E26093EF868}"/>
              </a:ext>
            </a:extLst>
          </p:cNvPr>
          <p:cNvSpPr txBox="1">
            <a:spLocks/>
          </p:cNvSpPr>
          <p:nvPr/>
        </p:nvSpPr>
        <p:spPr>
          <a:xfrm>
            <a:off x="7280095" y="6226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TM&gt;TMd21&gt;SOL&gt;IC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158E1C4C-39D5-E27E-AC61-A16C045F1325}"/>
              </a:ext>
            </a:extLst>
          </p:cNvPr>
          <p:cNvSpPr txBox="1">
            <a:spLocks/>
          </p:cNvSpPr>
          <p:nvPr/>
        </p:nvSpPr>
        <p:spPr>
          <a:xfrm>
            <a:off x="3794773" y="-5946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CD4 Tet+</a:t>
            </a:r>
          </a:p>
        </p:txBody>
      </p:sp>
    </p:spTree>
    <p:extLst>
      <p:ext uri="{BB962C8B-B14F-4D97-AF65-F5344CB8AC3E}">
        <p14:creationId xmlns:p14="http://schemas.microsoft.com/office/powerpoint/2010/main" val="316937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E85F-32A1-43CD-1F9D-3ED96D0F4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215D62F-DB5C-4AE6-591A-147D56B7F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5182"/>
            <a:ext cx="8249312" cy="6186984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C398CB74-1F9D-EE52-1AD8-4D6383670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1773" y="512660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Not as clearly </a:t>
            </a:r>
            <a:br>
              <a:rPr lang="en-AU" dirty="0"/>
            </a:br>
            <a:r>
              <a:rPr lang="en-AU" dirty="0"/>
              <a:t>separated</a:t>
            </a:r>
            <a:br>
              <a:rPr lang="en-AU" dirty="0"/>
            </a:br>
            <a:r>
              <a:rPr lang="en-AU" dirty="0"/>
              <a:t>as CD4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45E3FF62-5DD5-85AA-5C96-3E8297145D63}"/>
              </a:ext>
            </a:extLst>
          </p:cNvPr>
          <p:cNvSpPr txBox="1">
            <a:spLocks/>
          </p:cNvSpPr>
          <p:nvPr/>
        </p:nvSpPr>
        <p:spPr>
          <a:xfrm>
            <a:off x="7280095" y="6226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TM&gt;IC&gt;SOL&gt;TMD21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DEEA2A40-CDBA-9D57-ACBF-A0F5CA656633}"/>
              </a:ext>
            </a:extLst>
          </p:cNvPr>
          <p:cNvSpPr txBox="1">
            <a:spLocks/>
          </p:cNvSpPr>
          <p:nvPr/>
        </p:nvSpPr>
        <p:spPr>
          <a:xfrm>
            <a:off x="3755017" y="-3278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CD8 Tet+</a:t>
            </a:r>
          </a:p>
        </p:txBody>
      </p:sp>
    </p:spTree>
    <p:extLst>
      <p:ext uri="{BB962C8B-B14F-4D97-AF65-F5344CB8AC3E}">
        <p14:creationId xmlns:p14="http://schemas.microsoft.com/office/powerpoint/2010/main" val="3929551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2DEFE-F118-25D1-77AF-53CDF7CD9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D51C683-C732-FC76-A5C8-8B052650C0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3295"/>
            <a:ext cx="8379607" cy="628470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B1060C8-2459-70F7-621E-9A8FFE777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8387" y="523593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The burst CD4 </a:t>
            </a:r>
            <a:br>
              <a:rPr lang="en-AU" dirty="0"/>
            </a:br>
            <a:r>
              <a:rPr lang="en-AU" dirty="0"/>
              <a:t>response is </a:t>
            </a:r>
            <a:br>
              <a:rPr lang="en-AU" dirty="0"/>
            </a:br>
            <a:r>
              <a:rPr lang="en-AU" dirty="0"/>
              <a:t>mostly effector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10695DFD-02A1-B527-D8A7-5D43B88F579F}"/>
              </a:ext>
            </a:extLst>
          </p:cNvPr>
          <p:cNvSpPr txBox="1">
            <a:spLocks/>
          </p:cNvSpPr>
          <p:nvPr/>
        </p:nvSpPr>
        <p:spPr>
          <a:xfrm>
            <a:off x="7280095" y="6226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TM&gt;TMd21&gt;SOL&gt;IC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EC8E9E92-D7E5-7A02-630C-B88E2AA42332}"/>
              </a:ext>
            </a:extLst>
          </p:cNvPr>
          <p:cNvSpPr txBox="1">
            <a:spLocks/>
          </p:cNvSpPr>
          <p:nvPr/>
        </p:nvSpPr>
        <p:spPr>
          <a:xfrm>
            <a:off x="4271851" y="-647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CD4 Tet+</a:t>
            </a:r>
          </a:p>
        </p:txBody>
      </p:sp>
    </p:spTree>
    <p:extLst>
      <p:ext uri="{BB962C8B-B14F-4D97-AF65-F5344CB8AC3E}">
        <p14:creationId xmlns:p14="http://schemas.microsoft.com/office/powerpoint/2010/main" val="1177333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8D2B9-9A3C-FF32-5ADE-CD5D24F39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8A8699-63FE-23B4-C4CE-63E85F1B2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7131"/>
            <a:ext cx="8161159" cy="612086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1CB92B8-ADBD-B71E-60D9-9E461CA37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8387" y="523593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The burst CD4 </a:t>
            </a:r>
            <a:br>
              <a:rPr lang="en-AU" dirty="0"/>
            </a:br>
            <a:r>
              <a:rPr lang="en-AU" dirty="0"/>
              <a:t>response is </a:t>
            </a:r>
            <a:br>
              <a:rPr lang="en-AU" dirty="0"/>
            </a:br>
            <a:r>
              <a:rPr lang="en-AU" dirty="0"/>
              <a:t>mostly effector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E4DAC43B-7F92-B5D2-FFD2-AC3A7A05A8E9}"/>
              </a:ext>
            </a:extLst>
          </p:cNvPr>
          <p:cNvSpPr txBox="1">
            <a:spLocks/>
          </p:cNvSpPr>
          <p:nvPr/>
        </p:nvSpPr>
        <p:spPr>
          <a:xfrm>
            <a:off x="7280095" y="6226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TM&gt;TMd21&gt;SOL&gt;IC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6F375927-77CB-7E80-9DE9-D8CAB9CD2DAD}"/>
              </a:ext>
            </a:extLst>
          </p:cNvPr>
          <p:cNvSpPr txBox="1">
            <a:spLocks/>
          </p:cNvSpPr>
          <p:nvPr/>
        </p:nvSpPr>
        <p:spPr>
          <a:xfrm>
            <a:off x="4271851" y="-647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CD4 Tet+</a:t>
            </a:r>
          </a:p>
        </p:txBody>
      </p:sp>
    </p:spTree>
    <p:extLst>
      <p:ext uri="{BB962C8B-B14F-4D97-AF65-F5344CB8AC3E}">
        <p14:creationId xmlns:p14="http://schemas.microsoft.com/office/powerpoint/2010/main" val="3427873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93BCE-11F1-E4B9-4986-BD24F5C62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B78B8B4-E6CE-27CD-4143-758019EFB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97983"/>
            <a:ext cx="8121403" cy="609105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59ABBE1-DAF5-6667-D284-61124A706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8387" y="523593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TM drives mostly </a:t>
            </a:r>
            <a:br>
              <a:rPr lang="en-AU" dirty="0"/>
            </a:br>
            <a:r>
              <a:rPr lang="en-AU" dirty="0"/>
              <a:t>effector-like resp </a:t>
            </a:r>
            <a:br>
              <a:rPr lang="en-AU" dirty="0"/>
            </a:br>
            <a:r>
              <a:rPr lang="en-AU" dirty="0"/>
              <a:t>in CD8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DB08BF9F-0253-B168-A05E-F5D803C911AC}"/>
              </a:ext>
            </a:extLst>
          </p:cNvPr>
          <p:cNvSpPr txBox="1">
            <a:spLocks/>
          </p:cNvSpPr>
          <p:nvPr/>
        </p:nvSpPr>
        <p:spPr>
          <a:xfrm>
            <a:off x="7280095" y="6226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TM&gt;TMd21&gt;SOL&gt;IC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05BF8D83-2CE1-0694-E02A-2B1759971D00}"/>
              </a:ext>
            </a:extLst>
          </p:cNvPr>
          <p:cNvSpPr txBox="1">
            <a:spLocks/>
          </p:cNvSpPr>
          <p:nvPr/>
        </p:nvSpPr>
        <p:spPr>
          <a:xfrm>
            <a:off x="4271851" y="-647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CD8 Tet+</a:t>
            </a:r>
          </a:p>
        </p:txBody>
      </p:sp>
    </p:spTree>
    <p:extLst>
      <p:ext uri="{BB962C8B-B14F-4D97-AF65-F5344CB8AC3E}">
        <p14:creationId xmlns:p14="http://schemas.microsoft.com/office/powerpoint/2010/main" val="3957309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11B28-FB98-8263-CFB9-352B6FAB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052275-EF9A-05EB-5DB7-CA61CC4A9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672"/>
            <a:ext cx="8186492" cy="613986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1429853-0226-04F4-47F8-D995C5068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8387" y="5235934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TM drives mostly </a:t>
            </a:r>
            <a:br>
              <a:rPr lang="en-AU" dirty="0"/>
            </a:br>
            <a:r>
              <a:rPr lang="en-AU" dirty="0"/>
              <a:t>effector-like resp </a:t>
            </a:r>
            <a:br>
              <a:rPr lang="en-AU" dirty="0"/>
            </a:br>
            <a:r>
              <a:rPr lang="en-AU" dirty="0"/>
              <a:t>in CD8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6DA29A21-54B4-5950-959F-8475BCAFAB18}"/>
              </a:ext>
            </a:extLst>
          </p:cNvPr>
          <p:cNvSpPr txBox="1">
            <a:spLocks/>
          </p:cNvSpPr>
          <p:nvPr/>
        </p:nvSpPr>
        <p:spPr>
          <a:xfrm>
            <a:off x="7280095" y="62267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TM&gt;TMd21&gt;SOL&gt;IC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3A731F1B-4FEC-6FF0-9FD7-67AF1CC47386}"/>
              </a:ext>
            </a:extLst>
          </p:cNvPr>
          <p:cNvSpPr txBox="1">
            <a:spLocks/>
          </p:cNvSpPr>
          <p:nvPr/>
        </p:nvSpPr>
        <p:spPr>
          <a:xfrm>
            <a:off x="4271851" y="-647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dirty="0"/>
              <a:t>CD8 Tet+</a:t>
            </a:r>
          </a:p>
        </p:txBody>
      </p:sp>
    </p:spTree>
    <p:extLst>
      <p:ext uri="{BB962C8B-B14F-4D97-AF65-F5344CB8AC3E}">
        <p14:creationId xmlns:p14="http://schemas.microsoft.com/office/powerpoint/2010/main" val="294978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EBE9-D04D-0DB5-2E85-FF68D20D6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Take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63787-F4C0-2352-E860-C4CFFE640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TM: large, rapid and effector-rich</a:t>
            </a:r>
          </a:p>
          <a:p>
            <a:r>
              <a:rPr lang="en-AU" dirty="0"/>
              <a:t>TM is the strongest overall cellular immunogen in these figures</a:t>
            </a:r>
          </a:p>
          <a:p>
            <a:r>
              <a:rPr lang="en-AU" dirty="0"/>
              <a:t>IC: weak CD4 but relatively strong CD8</a:t>
            </a:r>
          </a:p>
        </p:txBody>
      </p:sp>
    </p:spTree>
    <p:extLst>
      <p:ext uri="{BB962C8B-B14F-4D97-AF65-F5344CB8AC3E}">
        <p14:creationId xmlns:p14="http://schemas.microsoft.com/office/powerpoint/2010/main" val="38499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155</Words>
  <Application>Microsoft Office PowerPoint</Application>
  <PresentationFormat>Widescreen</PresentationFormat>
  <Paragraphs>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Bulk CD4 is not  affected much</vt:lpstr>
      <vt:lpstr>Bulk CD8 is not  affected much</vt:lpstr>
      <vt:lpstr>TM induces a very large  early antigen-specific  CD4</vt:lpstr>
      <vt:lpstr>Not as clearly  separated as CD4</vt:lpstr>
      <vt:lpstr>The burst CD4  response is  mostly effector</vt:lpstr>
      <vt:lpstr>The burst CD4  response is  mostly effector</vt:lpstr>
      <vt:lpstr>TM drives mostly  effector-like resp  in CD8</vt:lpstr>
      <vt:lpstr>TM drives mostly  effector-like resp  in CD8</vt:lpstr>
      <vt:lpstr>Take home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Reynaldi</dc:creator>
  <cp:lastModifiedBy>Arnold Reynaldi</cp:lastModifiedBy>
  <cp:revision>2</cp:revision>
  <dcterms:created xsi:type="dcterms:W3CDTF">2026-08-16T23:40:38Z</dcterms:created>
  <dcterms:modified xsi:type="dcterms:W3CDTF">2026-08-24T05:49:10Z</dcterms:modified>
</cp:coreProperties>
</file>