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3B3FDB-D71E-4380-9E75-089874DC40F3}" v="4" dt="2026-09-02T01:48:46.3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0" autoAdjust="0"/>
    <p:restoredTop sz="94660"/>
  </p:normalViewPr>
  <p:slideViewPr>
    <p:cSldViewPr snapToGrid="0">
      <p:cViewPr>
        <p:scale>
          <a:sx n="66" d="100"/>
          <a:sy n="66" d="100"/>
        </p:scale>
        <p:origin x="114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nold Reynaldi" userId="92bd44c7-695d-4325-b9c2-7adc865c2b37" providerId="ADAL" clId="{451C2054-B413-4114-8A27-85698EEF6142}"/>
    <pc:docChg chg="undo custSel addSld modSld">
      <pc:chgData name="Arnold Reynaldi" userId="92bd44c7-695d-4325-b9c2-7adc865c2b37" providerId="ADAL" clId="{451C2054-B413-4114-8A27-85698EEF6142}" dt="2026-09-02T01:49:01.382" v="48" actId="1076"/>
      <pc:docMkLst>
        <pc:docMk/>
      </pc:docMkLst>
      <pc:sldChg chg="addSp delSp modSp new mod">
        <pc:chgData name="Arnold Reynaldi" userId="92bd44c7-695d-4325-b9c2-7adc865c2b37" providerId="ADAL" clId="{451C2054-B413-4114-8A27-85698EEF6142}" dt="2026-09-02T01:49:01.382" v="48" actId="1076"/>
        <pc:sldMkLst>
          <pc:docMk/>
          <pc:sldMk cId="4158266000" sldId="270"/>
        </pc:sldMkLst>
        <pc:spChg chg="del">
          <ac:chgData name="Arnold Reynaldi" userId="92bd44c7-695d-4325-b9c2-7adc865c2b37" providerId="ADAL" clId="{451C2054-B413-4114-8A27-85698EEF6142}" dt="2026-09-02T01:41:55.533" v="2" actId="478"/>
          <ac:spMkLst>
            <pc:docMk/>
            <pc:sldMk cId="4158266000" sldId="270"/>
            <ac:spMk id="2" creationId="{12CCF1CD-A2F6-F9C1-EABF-EC3D1FCE2B33}"/>
          </ac:spMkLst>
        </pc:spChg>
        <pc:spChg chg="del">
          <ac:chgData name="Arnold Reynaldi" userId="92bd44c7-695d-4325-b9c2-7adc865c2b37" providerId="ADAL" clId="{451C2054-B413-4114-8A27-85698EEF6142}" dt="2026-09-02T01:41:52.983" v="1"/>
          <ac:spMkLst>
            <pc:docMk/>
            <pc:sldMk cId="4158266000" sldId="270"/>
            <ac:spMk id="3" creationId="{8D1AF3EC-79BC-8F77-7CC8-0783D22EEC53}"/>
          </ac:spMkLst>
        </pc:spChg>
        <pc:spChg chg="add del mod">
          <ac:chgData name="Arnold Reynaldi" userId="92bd44c7-695d-4325-b9c2-7adc865c2b37" providerId="ADAL" clId="{451C2054-B413-4114-8A27-85698EEF6142}" dt="2026-09-02T01:47:34.280" v="20" actId="478"/>
          <ac:spMkLst>
            <pc:docMk/>
            <pc:sldMk cId="4158266000" sldId="270"/>
            <ac:spMk id="6" creationId="{F1A1032E-AA3C-E15E-D1BB-B87B421748FF}"/>
          </ac:spMkLst>
        </pc:spChg>
        <pc:graphicFrameChg chg="add del mod modGraphic">
          <ac:chgData name="Arnold Reynaldi" userId="92bd44c7-695d-4325-b9c2-7adc865c2b37" providerId="ADAL" clId="{451C2054-B413-4114-8A27-85698EEF6142}" dt="2026-09-02T01:47:32.530" v="19" actId="478"/>
          <ac:graphicFrameMkLst>
            <pc:docMk/>
            <pc:sldMk cId="4158266000" sldId="270"/>
            <ac:graphicFrameMk id="4" creationId="{997D0F72-F60C-A9A8-7C7A-C4747D4F0C0F}"/>
          </ac:graphicFrameMkLst>
        </pc:graphicFrameChg>
        <pc:graphicFrameChg chg="add mod modGraphic">
          <ac:chgData name="Arnold Reynaldi" userId="92bd44c7-695d-4325-b9c2-7adc865c2b37" providerId="ADAL" clId="{451C2054-B413-4114-8A27-85698EEF6142}" dt="2026-09-02T01:49:01.382" v="48" actId="1076"/>
          <ac:graphicFrameMkLst>
            <pc:docMk/>
            <pc:sldMk cId="4158266000" sldId="270"/>
            <ac:graphicFrameMk id="7" creationId="{BB1368EF-33DF-86B9-5AB2-13FC5818560B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7EEA9-8660-4B76-B0A4-CF8321765BE8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38AC1-FBD2-4A26-95D3-E6540FE9ADE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436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838AC1-FBD2-4A26-95D3-E6540FE9ADE6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192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4BCC2-42E4-D083-CA61-5DC53BBDE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39820-9544-2F17-B0DF-2C6F3F14C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1AE8C-2170-1DBF-5D0E-B2E8EF79A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9EB8-3AA2-CAF5-E9E0-A8A18D79F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838AC1-FBD2-4A26-95D3-E6540FE9ADE6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28177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838AC1-FBD2-4A26-95D3-E6540FE9ADE6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1331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7BD4-5FCF-CB48-0AD7-4299F9047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32AEB1-0680-9202-B825-1BA25AC6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438E-81A7-01F9-FA8E-0C14832D3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64FA4-0834-E6ED-5996-91D1ADB7F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C935D-F720-4D31-3446-158C9C6A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3654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8D8C-8502-5DDE-06DB-E646C2E7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7989B-05C9-A93E-A8B9-562A7833DE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35BA0-7275-55B0-5AFB-6BBBC45D8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A5134-F32B-C4F8-9C4F-1DC4052F9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05EAD-B6A9-958A-73A4-6D9B87613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3581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A9D04-3B4D-EB15-D6ED-EE173A80A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43402-6AFD-850C-214F-4BFEA550B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9826D-778A-A6AF-92C8-C9C606F98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0A18D-89A8-7D12-76C4-DF92A3614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2FDE8-AB87-116C-6FE1-CA222E2D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3495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02A13-9276-5E4B-2956-11CC200A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2FC97-3EDB-F764-3D66-FB1AAA705D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34077-1FC6-26EF-F34E-260815E20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D977F-3467-E815-5E10-4C3A990B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70363-7038-4F58-A2F7-797C1451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1CA270-800D-E724-7BE5-3190B785C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1088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CA737-A463-9A53-AF81-1CFC66A54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726540-4F2F-B4B9-10F9-2DCD7AC89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28F39-0B10-D831-5FFB-7D2905D2A0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8ED7D9-38D3-BA27-D143-3DB911BCE6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FE1AC6-4364-BD1E-651A-822A1E9E2C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EB6717-5841-049F-F6C1-F08A5AFE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0C1A0-2C3B-F57B-C536-1CE99C012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2B44D3-421F-0B76-0D6A-7AEF378D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7426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9B182-D6FB-27EE-7224-21FE881B8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0B87B8-C8AA-7A9E-AEBB-8E89E06C2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01DCA2-7017-B28D-A001-86145802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31226-DEC5-F032-7236-2684B6D6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5356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58EFF3-0E14-0279-7009-FDED72A4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36A0E-FA55-C90B-5D83-D07DD0FC6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A28CD-2D9F-7665-FCFF-DF039120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61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EEE12-635F-C478-117A-BDD065BBD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6FE7A-4EF4-B0D2-C8B9-F6FB63B8F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72CF4-17E1-54FC-2734-ED8160A1C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94854D-8DA5-9F94-94BB-FB67F3D13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CC42B-0AA0-6F71-BBB0-78BCF666A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1F776-EBC7-0EAE-4127-B9AD358CF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1193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3C012-1FAE-DC13-7B69-855EC51DE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0922BC-E884-3FBF-D2B3-F0D99B0D4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8AD5EB-2796-267E-4244-849060406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19633-8B87-9FB6-3BE7-F1FA50B0B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5B9B62-CCE8-8EFB-41FB-F9E53B38A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46E27D-90D7-B25F-B914-2F966936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6507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FDB79-3994-98E3-A910-6417ADB16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138E20-5873-BFB1-5C89-873CFB986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A3E30-7F81-1CCF-7486-4A21E8DBF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0E424-E61B-034D-8C1F-EA997E9D1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38828-D432-F8D4-66E1-5FF396BA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680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A9466C-2763-A805-2565-CB088941CD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04109B-690A-10EC-CC9C-ECF97C2184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46D5-3097-C2ED-E978-8BF3630F1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6EF46-1A9D-F916-2E43-C62703317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E480A-8F10-6388-2C86-17EF8A14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50890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34B0C8-713B-988B-C0A1-095BC356C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7A1D6C-6A7F-A83E-FE9D-09AF99D70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0A9B-570E-700E-FF21-07F5B4C12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59BC5-30E6-4D57-A435-0698DC1D92FA}" type="datetimeFigureOut">
              <a:rPr lang="en-AU" smtClean="0"/>
              <a:t>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786991-E840-28BE-6E95-2F3959D0F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132A3-47E9-1299-CEF2-DD52C7378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25CB2-F78B-4A13-95B4-3F779DB473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9550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FF70F-947F-162C-06EB-4FDADBAC60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889C91-6CE1-9FA3-9762-9A8108952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29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02F2E-E398-479A-7765-CC161017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 difference in the total bulk CD4#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85B579-AB08-EC8D-0BE4-4DC1B97A2B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3" y="1369131"/>
            <a:ext cx="7315215" cy="54864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79639C-A2D3-FF4E-AFB9-6E317B36DE32}"/>
              </a:ext>
            </a:extLst>
          </p:cNvPr>
          <p:cNvSpPr txBox="1"/>
          <p:nvPr/>
        </p:nvSpPr>
        <p:spPr>
          <a:xfrm>
            <a:off x="2025445" y="57112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b="1" dirty="0">
                <a:solidFill>
                  <a:srgbClr val="FF0000"/>
                </a:solidFill>
              </a:rPr>
              <a:t>Extremely low??</a:t>
            </a:r>
          </a:p>
          <a:p>
            <a:r>
              <a:rPr lang="en-AU" sz="1200" b="1" dirty="0">
                <a:solidFill>
                  <a:srgbClr val="FF0000"/>
                </a:solidFill>
              </a:rPr>
              <a:t>11171</a:t>
            </a:r>
          </a:p>
        </p:txBody>
      </p:sp>
    </p:spTree>
    <p:extLst>
      <p:ext uri="{BB962C8B-B14F-4D97-AF65-F5344CB8AC3E}">
        <p14:creationId xmlns:p14="http://schemas.microsoft.com/office/powerpoint/2010/main" val="2829328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344B6-3FB1-DECA-BEDA-C6D58F1CF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149B9-4F01-4C38-73A9-B713CCFD7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 difference in the total bulk CD8#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BF23B3-D375-2114-D43D-1BA10947D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73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92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7160-088E-898D-FA27-A2F9F6C52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D66A0-D99E-5440-0E33-BDEAAA3F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Tetramer+ CD4 T cell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F357E7-773D-20F9-3C75-FCD111148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46232"/>
            <a:ext cx="7315215" cy="54864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FB949-74AC-6CFD-3C66-0CE5679BCB82}"/>
              </a:ext>
            </a:extLst>
          </p:cNvPr>
          <p:cNvSpPr txBox="1"/>
          <p:nvPr/>
        </p:nvSpPr>
        <p:spPr>
          <a:xfrm>
            <a:off x="1838632" y="561176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b="1" dirty="0">
                <a:solidFill>
                  <a:srgbClr val="FF0000"/>
                </a:solidFill>
              </a:rPr>
              <a:t>Extremely low??</a:t>
            </a:r>
          </a:p>
          <a:p>
            <a:r>
              <a:rPr lang="en-AU" sz="1200" b="1" dirty="0">
                <a:solidFill>
                  <a:srgbClr val="FF0000"/>
                </a:solidFill>
              </a:rPr>
              <a:t>11171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2B1FE-6DA6-EC5E-AC6D-409B36E40AD7}"/>
              </a:ext>
            </a:extLst>
          </p:cNvPr>
          <p:cNvSpPr txBox="1"/>
          <p:nvPr/>
        </p:nvSpPr>
        <p:spPr>
          <a:xfrm>
            <a:off x="5732207" y="211013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b="1" dirty="0">
                <a:solidFill>
                  <a:srgbClr val="FF0000"/>
                </a:solidFill>
              </a:rPr>
              <a:t>Extremely high??</a:t>
            </a:r>
          </a:p>
          <a:p>
            <a:r>
              <a:rPr lang="en-AU" sz="1200" b="1" dirty="0">
                <a:solidFill>
                  <a:srgbClr val="FF0000"/>
                </a:solidFill>
              </a:rPr>
              <a:t>10236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0A2253-B29E-635B-629A-A974D4C63687}"/>
              </a:ext>
            </a:extLst>
          </p:cNvPr>
          <p:cNvSpPr txBox="1"/>
          <p:nvPr/>
        </p:nvSpPr>
        <p:spPr>
          <a:xfrm>
            <a:off x="7236541" y="572343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TM&gt;TMd21&gt;SOL&gt;IC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04721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9418D-5724-237A-D7F3-0328E2D8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6604F-214D-9B06-E91A-B7CFB176D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Survival of Tetramer+ CD4 T cell (normalised to the starting value)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C2CCEB-2882-ADA0-0884-932F348971CD}"/>
              </a:ext>
            </a:extLst>
          </p:cNvPr>
          <p:cNvSpPr txBox="1"/>
          <p:nvPr/>
        </p:nvSpPr>
        <p:spPr>
          <a:xfrm>
            <a:off x="6951407" y="572343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TM&gt;TMd21=SOL&gt;IC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3CF748-875A-10CC-BCCD-25A30A88D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4" y="1850923"/>
            <a:ext cx="6676103" cy="50070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83B0FBB-5E0B-1FF9-8804-64F7F25304F6}"/>
              </a:ext>
            </a:extLst>
          </p:cNvPr>
          <p:cNvSpPr txBox="1"/>
          <p:nvPr/>
        </p:nvSpPr>
        <p:spPr>
          <a:xfrm>
            <a:off x="7143136" y="2970916"/>
            <a:ext cx="6096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 seems to decay faster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32A057-834E-F3AC-8300-805738C4C672}"/>
              </a:ext>
            </a:extLst>
          </p:cNvPr>
          <p:cNvSpPr txBox="1"/>
          <p:nvPr/>
        </p:nvSpPr>
        <p:spPr>
          <a:xfrm>
            <a:off x="6867832" y="4793758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IC seems to be stable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7DA747-B557-CD3A-F5C9-EB4FCCBDEDA7}"/>
              </a:ext>
            </a:extLst>
          </p:cNvPr>
          <p:cNvSpPr txBox="1"/>
          <p:nvPr/>
        </p:nvSpPr>
        <p:spPr>
          <a:xfrm>
            <a:off x="7143136" y="1850923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Biphasic decay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36567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3EA5-53E2-8293-7E85-63E91B8C4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9C224CC-E1CD-6DD4-96BC-50A7FCB80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17C172-5839-DDD0-2C7D-E71826BCD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Tetramer+ CD8 T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BE54A7-2464-71BF-7F7E-8AF0AA69F01C}"/>
              </a:ext>
            </a:extLst>
          </p:cNvPr>
          <p:cNvSpPr txBox="1"/>
          <p:nvPr/>
        </p:nvSpPr>
        <p:spPr>
          <a:xfrm>
            <a:off x="6931741" y="572343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 IC &gt;TMd21&gt;SOL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60744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5BEF1-E703-2CAF-9181-5E96FDC4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551F23-4FDB-552B-3469-49C9FDE4B0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2" y="1504325"/>
            <a:ext cx="7138234" cy="5353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257AE-5BBF-1D61-0EAD-F5DAF25DE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Survival of Tetramer+ CD8 T cell (normalised to the starting value)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C2B914-1F22-DB1C-2D20-5C504966F1FF}"/>
              </a:ext>
            </a:extLst>
          </p:cNvPr>
          <p:cNvSpPr txBox="1"/>
          <p:nvPr/>
        </p:nvSpPr>
        <p:spPr>
          <a:xfrm>
            <a:off x="6951407" y="572343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Decay seems similar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038D15-1400-4574-9ED5-DFF171C9A11A}"/>
              </a:ext>
            </a:extLst>
          </p:cNvPr>
          <p:cNvSpPr txBox="1"/>
          <p:nvPr/>
        </p:nvSpPr>
        <p:spPr>
          <a:xfrm>
            <a:off x="7143136" y="1850923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Biphasic decay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176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7B723-1301-1ADE-11F3-5689D969F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CD4 effector phenotype (%)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749C6-B251-8808-A9BC-D2345914EE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29802"/>
            <a:ext cx="7315215" cy="54864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7D6F2E-22D9-125F-8E5B-DB896E96842B}"/>
              </a:ext>
            </a:extLst>
          </p:cNvPr>
          <p:cNvSpPr txBox="1"/>
          <p:nvPr/>
        </p:nvSpPr>
        <p:spPr>
          <a:xfrm>
            <a:off x="6941574" y="57922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TM&gt;TMd21&gt;SOL&gt;IC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FB9BF-27DC-AF70-2A11-5B1FAF239834}"/>
              </a:ext>
            </a:extLst>
          </p:cNvPr>
          <p:cNvSpPr txBox="1"/>
          <p:nvPr/>
        </p:nvSpPr>
        <p:spPr>
          <a:xfrm>
            <a:off x="7180014" y="142118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Not only high in </a:t>
            </a:r>
            <a:r>
              <a:rPr lang="en-AU" sz="2800" dirty="0" err="1"/>
              <a:t>tet</a:t>
            </a:r>
            <a:r>
              <a:rPr lang="en-AU" sz="2800" dirty="0"/>
              <a:t>+ responses, </a:t>
            </a:r>
          </a:p>
          <a:p>
            <a:r>
              <a:rPr lang="en-AU" sz="2800" dirty="0"/>
              <a:t>TM is also high in %effector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F1F21-0CD6-D293-9432-D57F6610A598}"/>
              </a:ext>
            </a:extLst>
          </p:cNvPr>
          <p:cNvSpPr txBox="1"/>
          <p:nvPr/>
        </p:nvSpPr>
        <p:spPr>
          <a:xfrm>
            <a:off x="7374208" y="2583669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IC is lowest </a:t>
            </a:r>
            <a:r>
              <a:rPr lang="en-AU" sz="2800" dirty="0" err="1"/>
              <a:t>tet</a:t>
            </a:r>
            <a:r>
              <a:rPr lang="en-AU" sz="2800" dirty="0"/>
              <a:t>+ response, </a:t>
            </a:r>
          </a:p>
          <a:p>
            <a:r>
              <a:rPr lang="en-AU" sz="2800" dirty="0"/>
              <a:t>and lowest %effector</a:t>
            </a:r>
          </a:p>
        </p:txBody>
      </p:sp>
    </p:spTree>
    <p:extLst>
      <p:ext uri="{BB962C8B-B14F-4D97-AF65-F5344CB8AC3E}">
        <p14:creationId xmlns:p14="http://schemas.microsoft.com/office/powerpoint/2010/main" val="1898260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D750-A087-C96E-C7F5-6BBB41EE3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2C8423A-4418-CAA2-F0D6-44D4039E8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61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4E5D09-982A-585C-2455-15A829B7E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CD4 effector cell number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98F0BD-3CE0-287E-40AA-F028DD9CF1C6}"/>
              </a:ext>
            </a:extLst>
          </p:cNvPr>
          <p:cNvSpPr txBox="1"/>
          <p:nvPr/>
        </p:nvSpPr>
        <p:spPr>
          <a:xfrm>
            <a:off x="6941574" y="57922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TM&gt;TMd21&gt;SOL&gt;IC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65705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2245A-56EF-EB05-CBD1-2F253F27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8267C7-81F6-F7CD-21E0-52D6DAF38A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C63964-B353-C982-F0E3-7A6DDD54B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CD4 effector survival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7DB086-F119-EAE6-5B6F-8CE1BC1B420D}"/>
              </a:ext>
            </a:extLst>
          </p:cNvPr>
          <p:cNvSpPr txBox="1"/>
          <p:nvPr/>
        </p:nvSpPr>
        <p:spPr>
          <a:xfrm>
            <a:off x="6951407" y="572343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TM&gt;SOL&gt;TMd21&gt;IC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4445B-420B-15DA-E5FB-D12A3748E37F}"/>
              </a:ext>
            </a:extLst>
          </p:cNvPr>
          <p:cNvSpPr txBox="1"/>
          <p:nvPr/>
        </p:nvSpPr>
        <p:spPr>
          <a:xfrm>
            <a:off x="7143136" y="2970916"/>
            <a:ext cx="6096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 seems to decay faster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BE272D-50C6-F62F-905D-877F0EDF0B26}"/>
              </a:ext>
            </a:extLst>
          </p:cNvPr>
          <p:cNvSpPr txBox="1"/>
          <p:nvPr/>
        </p:nvSpPr>
        <p:spPr>
          <a:xfrm>
            <a:off x="6867832" y="4793758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IC seems to be stable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9F62AA-BAB9-4EEB-7992-E9EDFF74FE2B}"/>
              </a:ext>
            </a:extLst>
          </p:cNvPr>
          <p:cNvSpPr txBox="1"/>
          <p:nvPr/>
        </p:nvSpPr>
        <p:spPr>
          <a:xfrm>
            <a:off x="7143136" y="1850923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Biphasic decay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41533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354C1-00B4-643B-85BE-07BCA9AF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265AD7-FA56-B8F9-AD05-7C561864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EC034-A836-6252-AAF8-7982162B6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CD8 effector phenotype (%)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E19509-6EAF-5A98-E155-3D31E3E09152}"/>
              </a:ext>
            </a:extLst>
          </p:cNvPr>
          <p:cNvSpPr txBox="1"/>
          <p:nvPr/>
        </p:nvSpPr>
        <p:spPr>
          <a:xfrm>
            <a:off x="6941574" y="57922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TM&gt;TMd21&gt;SOL=IC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4AD6E9-A977-B700-EB73-EC81A80A512A}"/>
              </a:ext>
            </a:extLst>
          </p:cNvPr>
          <p:cNvSpPr txBox="1"/>
          <p:nvPr/>
        </p:nvSpPr>
        <p:spPr>
          <a:xfrm>
            <a:off x="7180014" y="142118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Not only high in </a:t>
            </a:r>
            <a:r>
              <a:rPr lang="en-AU" sz="2800" dirty="0" err="1"/>
              <a:t>tet</a:t>
            </a:r>
            <a:r>
              <a:rPr lang="en-AU" sz="2800" dirty="0"/>
              <a:t>+ responses, </a:t>
            </a:r>
          </a:p>
          <a:p>
            <a:r>
              <a:rPr lang="en-AU" sz="2800" dirty="0"/>
              <a:t>TM is also high in %effector</a:t>
            </a:r>
          </a:p>
        </p:txBody>
      </p:sp>
    </p:spTree>
    <p:extLst>
      <p:ext uri="{BB962C8B-B14F-4D97-AF65-F5344CB8AC3E}">
        <p14:creationId xmlns:p14="http://schemas.microsoft.com/office/powerpoint/2010/main" val="2659225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A091D-FA45-FAF5-E780-4803A1D83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AB99F4-993D-296D-169F-F953A0398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D87A6-9BA5-6CD4-CCE3-39CD8CE4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CD8 effector cell number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892EF-617D-5D21-C7F5-7467F7474FA4}"/>
              </a:ext>
            </a:extLst>
          </p:cNvPr>
          <p:cNvSpPr txBox="1"/>
          <p:nvPr/>
        </p:nvSpPr>
        <p:spPr>
          <a:xfrm>
            <a:off x="6941574" y="57922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TM&gt;TMd21?SOL?IC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9956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8E298-CD7B-CBE8-2EC5-EB99399A2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3EEB72F-EB39-BE9E-4355-BAD526C66A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589"/>
            <a:ext cx="7315215" cy="5486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BE2BC5-65EA-CCF6-2B81-3A2F3008E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Tet+ CD8 effector survival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021578-FB35-3F59-8CE0-DAFA507E7E36}"/>
              </a:ext>
            </a:extLst>
          </p:cNvPr>
          <p:cNvSpPr txBox="1"/>
          <p:nvPr/>
        </p:nvSpPr>
        <p:spPr>
          <a:xfrm>
            <a:off x="6838336" y="1854082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Biphasic decay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C51BD-8C0C-467A-5E3F-96427C1654AB}"/>
              </a:ext>
            </a:extLst>
          </p:cNvPr>
          <p:cNvSpPr txBox="1"/>
          <p:nvPr/>
        </p:nvSpPr>
        <p:spPr>
          <a:xfrm>
            <a:off x="6720349" y="4992329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4400" dirty="0"/>
              <a:t>Maybe similar decay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759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B1368EF-33DF-86B9-5AB2-13FC58185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944933"/>
              </p:ext>
            </p:extLst>
          </p:nvPr>
        </p:nvGraphicFramePr>
        <p:xfrm>
          <a:off x="734028" y="1215341"/>
          <a:ext cx="10515600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4433098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4616148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77439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Parameter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CD4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CD8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139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Bulk T-cell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No clear difference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No clear difference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7518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Tetramer⁺ cell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TM &gt; TMd21 &gt; SOL &gt; 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TM &gt; IC &gt; TMd21 &gt; SOL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35429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Tetramer⁺ survival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Biphasic decay; : TM &gt; TMd21 ≈ SOL &gt; 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Biphasic decay; similar overall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2037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Effector phenotype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CD44⁺CD62L⁻: TM &gt; TMd21 &gt; SOL &gt; 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KLRG1⁺CD127⁻: TM &gt; TMd21 &gt; SOL ≈ 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21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Effector-cell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TM &gt; TMd21 &gt; SOL &gt; 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TM highest; other groups uncertain (similar)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094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/>
                        <a:t>Effector-cell survival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Biphasic decay: TM &gt; SOL &gt; TMd21 &gt; 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2400" dirty="0"/>
                        <a:t>Biphasic decay; possibly similar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4489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266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345</Words>
  <Application>Microsoft Office PowerPoint</Application>
  <PresentationFormat>Widescreen</PresentationFormat>
  <Paragraphs>66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No difference in the total bulk CD4#</vt:lpstr>
      <vt:lpstr>No difference in the total bulk CD8#</vt:lpstr>
      <vt:lpstr>Tetramer+ CD4 T cell</vt:lpstr>
      <vt:lpstr>Survival of Tetramer+ CD4 T cell (normalised to the starting value)</vt:lpstr>
      <vt:lpstr>Tetramer+ CD8 T cell</vt:lpstr>
      <vt:lpstr>Survival of Tetramer+ CD8 T cell (normalised to the starting value)</vt:lpstr>
      <vt:lpstr>Tet+ CD4 effector phenotype (%)</vt:lpstr>
      <vt:lpstr>Tet+ CD4 effector cell number</vt:lpstr>
      <vt:lpstr>Tet+ CD4 effector survival</vt:lpstr>
      <vt:lpstr>Tet+ CD8 effector phenotype (%)</vt:lpstr>
      <vt:lpstr>Tet+ CD8 effector cell number</vt:lpstr>
      <vt:lpstr>Tet+ CD8 effector survival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1</cp:revision>
  <dcterms:created xsi:type="dcterms:W3CDTF">2026-09-02T00:25:59Z</dcterms:created>
  <dcterms:modified xsi:type="dcterms:W3CDTF">2026-09-02T01:49:05Z</dcterms:modified>
</cp:coreProperties>
</file>