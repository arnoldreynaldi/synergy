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B3FDB-D71E-4380-9E75-089874DC40F3}" v="4" dt="2026-09-02T01:48:46.3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old Reynaldi" userId="92bd44c7-695d-4325-b9c2-7adc865c2b37" providerId="ADAL" clId="{451C2054-B413-4114-8A27-85698EEF6142}"/>
    <pc:docChg chg="undo custSel addSld modSld">
      <pc:chgData name="Arnold Reynaldi" userId="92bd44c7-695d-4325-b9c2-7adc865c2b37" providerId="ADAL" clId="{451C2054-B413-4114-8A27-85698EEF6142}" dt="2026-09-02T01:49:01.382" v="48" actId="1076"/>
      <pc:docMkLst>
        <pc:docMk/>
      </pc:docMkLst>
      <pc:sldChg chg="addSp delSp modSp new mod">
        <pc:chgData name="Arnold Reynaldi" userId="92bd44c7-695d-4325-b9c2-7adc865c2b37" providerId="ADAL" clId="{451C2054-B413-4114-8A27-85698EEF6142}" dt="2026-09-02T01:49:01.382" v="48" actId="1076"/>
        <pc:sldMkLst>
          <pc:docMk/>
          <pc:sldMk cId="4158266000" sldId="270"/>
        </pc:sldMkLst>
        <pc:spChg chg="del">
          <ac:chgData name="Arnold Reynaldi" userId="92bd44c7-695d-4325-b9c2-7adc865c2b37" providerId="ADAL" clId="{451C2054-B413-4114-8A27-85698EEF6142}" dt="2026-09-02T01:41:55.533" v="2" actId="478"/>
          <ac:spMkLst>
            <pc:docMk/>
            <pc:sldMk cId="4158266000" sldId="270"/>
            <ac:spMk id="2" creationId="{12CCF1CD-A2F6-F9C1-EABF-EC3D1FCE2B33}"/>
          </ac:spMkLst>
        </pc:spChg>
        <pc:spChg chg="del">
          <ac:chgData name="Arnold Reynaldi" userId="92bd44c7-695d-4325-b9c2-7adc865c2b37" providerId="ADAL" clId="{451C2054-B413-4114-8A27-85698EEF6142}" dt="2026-09-02T01:41:52.983" v="1"/>
          <ac:spMkLst>
            <pc:docMk/>
            <pc:sldMk cId="4158266000" sldId="270"/>
            <ac:spMk id="3" creationId="{8D1AF3EC-79BC-8F77-7CC8-0783D22EEC53}"/>
          </ac:spMkLst>
        </pc:spChg>
        <pc:spChg chg="add del mod">
          <ac:chgData name="Arnold Reynaldi" userId="92bd44c7-695d-4325-b9c2-7adc865c2b37" providerId="ADAL" clId="{451C2054-B413-4114-8A27-85698EEF6142}" dt="2026-09-02T01:47:34.280" v="20" actId="478"/>
          <ac:spMkLst>
            <pc:docMk/>
            <pc:sldMk cId="4158266000" sldId="270"/>
            <ac:spMk id="6" creationId="{F1A1032E-AA3C-E15E-D1BB-B87B421748FF}"/>
          </ac:spMkLst>
        </pc:spChg>
        <pc:graphicFrameChg chg="add del mod modGraphic">
          <ac:chgData name="Arnold Reynaldi" userId="92bd44c7-695d-4325-b9c2-7adc865c2b37" providerId="ADAL" clId="{451C2054-B413-4114-8A27-85698EEF6142}" dt="2026-09-02T01:47:32.530" v="19" actId="478"/>
          <ac:graphicFrameMkLst>
            <pc:docMk/>
            <pc:sldMk cId="4158266000" sldId="270"/>
            <ac:graphicFrameMk id="4" creationId="{997D0F72-F60C-A9A8-7C7A-C4747D4F0C0F}"/>
          </ac:graphicFrameMkLst>
        </pc:graphicFrameChg>
        <pc:graphicFrameChg chg="add mod modGraphic">
          <ac:chgData name="Arnold Reynaldi" userId="92bd44c7-695d-4325-b9c2-7adc865c2b37" providerId="ADAL" clId="{451C2054-B413-4114-8A27-85698EEF6142}" dt="2026-09-02T01:49:01.382" v="48" actId="1076"/>
          <ac:graphicFrameMkLst>
            <pc:docMk/>
            <pc:sldMk cId="4158266000" sldId="270"/>
            <ac:graphicFrameMk id="7" creationId="{BB1368EF-33DF-86B9-5AB2-13FC5818560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7EEA9-8660-4B76-B0A4-CF8321765BE8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38AC1-FBD2-4A26-95D3-E6540FE9AD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36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38AC1-FBD2-4A26-95D3-E6540FE9ADE6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8158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38AC1-FBD2-4A26-95D3-E6540FE9ADE6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9192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4BCC2-42E4-D083-CA61-5DC53BBD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39820-9544-2F17-B0DF-2C6F3F14C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1AE8C-2170-1DBF-5D0E-B2E8EF79A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9EB8-3AA2-CAF5-E9E0-A8A18D79F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38AC1-FBD2-4A26-95D3-E6540FE9ADE6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8177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38AC1-FBD2-4A26-95D3-E6540FE9ADE6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1331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7BD4-5FCF-CB48-0AD7-4299F9047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2AEB1-0680-9202-B825-1BA25AC69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1438E-81A7-01F9-FA8E-0C14832D3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64FA4-0834-E6ED-5996-91D1ADB7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C935D-F720-4D31-3446-158C9C6A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654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8D8C-8502-5DDE-06DB-E646C2E7D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7989B-05C9-A93E-A8B9-562A7833D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35BA0-7275-55B0-5AFB-6BBBC45D8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A5134-F32B-C4F8-9C4F-1DC4052F9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05EAD-B6A9-958A-73A4-6D9B8761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358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A9D04-3B4D-EB15-D6ED-EE173A80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43402-6AFD-850C-214F-4BFEA550B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9826D-778A-A6AF-92C8-C9C606F98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0A18D-89A8-7D12-76C4-DF92A361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2FDE8-AB87-116C-6FE1-CA222E2D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349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02A13-9276-5E4B-2956-11CC200A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FC97-3EDB-F764-3D66-FB1AAA705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34077-1FC6-26EF-F34E-260815E20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D977F-3467-E815-5E10-4C3A990B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70363-7038-4F58-A2F7-797C1451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CA270-800D-E724-7BE5-3190B785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108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A737-A463-9A53-AF81-1CFC66A54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26540-4F2F-B4B9-10F9-2DCD7AC89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28F39-0B10-D831-5FFB-7D2905D2A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ED7D9-38D3-BA27-D143-3DB911BCE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FE1AC6-4364-BD1E-651A-822A1E9E2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EB6717-5841-049F-F6C1-F08A5AFE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0C1A0-2C3B-F57B-C536-1CE99C012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B44D3-421F-0B76-0D6A-7AEF378D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7426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B182-D6FB-27EE-7224-21FE881B8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B87B8-C8AA-7A9E-AEBB-8E89E06C2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1DCA2-7017-B28D-A001-86145802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31226-DEC5-F032-7236-2684B6D6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5356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58EFF3-0E14-0279-7009-FDED72A4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36A0E-FA55-C90B-5D83-D07DD0FC6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A28CD-2D9F-7665-FCFF-DF039120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61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EE12-635F-C478-117A-BDD065BBD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6FE7A-4EF4-B0D2-C8B9-F6FB63B8F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72CF4-17E1-54FC-2734-ED8160A1C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4854D-8DA5-9F94-94BB-FB67F3D13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CC42B-0AA0-6F71-BBB0-78BCF666A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1F776-EBC7-0EAE-4127-B9AD358C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119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C012-1FAE-DC13-7B69-855EC51DE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922BC-E884-3FBF-D2B3-F0D99B0D4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AD5EB-2796-267E-4244-849060406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19633-8B87-9FB6-3BE7-F1FA50B0B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B9B62-CCE8-8EFB-41FB-F9E53B38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6E27D-90D7-B25F-B914-2F966936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650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DB79-3994-98E3-A910-6417ADB16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38E20-5873-BFB1-5C89-873CFB986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A3E30-7F81-1CCF-7486-4A21E8DBF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0E424-E61B-034D-8C1F-EA997E9D1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38828-D432-F8D4-66E1-5FF396BAF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5680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A9466C-2763-A805-2565-CB088941CD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04109B-690A-10EC-CC9C-ECF97C218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146D5-3097-C2ED-E978-8BF3630F1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6EF46-1A9D-F916-2E43-C6270331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E480A-8F10-6388-2C86-17EF8A14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0890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4B0C8-713B-988B-C0A1-095BC356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A1D6C-6A7F-A83E-FE9D-09AF99D70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80A9B-570E-700E-FF21-07F5B4C12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D59BC5-30E6-4D57-A435-0698DC1D92FA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86991-E840-28BE-6E95-2F3959D0F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132A3-47E9-1299-CEF2-DD52C7378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25CB2-F78B-4A13-95B4-3F779DB473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55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F70F-947F-162C-06EB-4FDADBAC60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Kinetics of CD4 and CD8 with different vaccine formulation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89C91-6CE1-9FA3-9762-9A8108952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972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DB997F-8280-CFA9-BAEA-A34A6C8A0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76" y="1371589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C02F2E-E398-479A-7765-CC161017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 difference in the total bulk CD4#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9639C-A2D3-FF4E-AFB9-6E317B36DE32}"/>
              </a:ext>
            </a:extLst>
          </p:cNvPr>
          <p:cNvSpPr txBox="1"/>
          <p:nvPr/>
        </p:nvSpPr>
        <p:spPr>
          <a:xfrm>
            <a:off x="1385365" y="561983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Extremely low??</a:t>
            </a:r>
          </a:p>
          <a:p>
            <a:r>
              <a:rPr lang="en-AU" sz="1200" b="1" dirty="0">
                <a:solidFill>
                  <a:srgbClr val="FF0000"/>
                </a:solidFill>
              </a:rPr>
              <a:t>11171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E79A48A-6A84-75AE-C9F3-411530654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94" y="2138706"/>
            <a:ext cx="604636" cy="6046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64A01C-5EE5-74D4-A153-E5C57EF989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577" y="2153092"/>
            <a:ext cx="604636" cy="59898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2BA3F15-A6A4-8A46-1DDC-4B5FFD8870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660" y="2138706"/>
            <a:ext cx="604636" cy="61468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84948AF-D8F8-5789-DE07-45BDF62267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499" y="2148753"/>
            <a:ext cx="604636" cy="60463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A4576A1-85CF-75B5-1F3F-CB3A9071AD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395" y="2272458"/>
            <a:ext cx="380349" cy="38034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EE5ED95-B563-7D79-CCBC-2B3B27D2B3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0119" y="2248231"/>
            <a:ext cx="491717" cy="39563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D8D9831-2D6E-C257-D04F-A463ACC7FA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3337" y="2270643"/>
            <a:ext cx="548177" cy="34075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2911BD4-288D-D7B1-9BFB-0AE39E291D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6353" y="2185623"/>
            <a:ext cx="376544" cy="48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28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344B6-3FB1-DECA-BEDA-C6D58F1C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149B9-4F01-4C38-73A9-B713CCFD7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 difference in the total bulk CD8#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8BE2B5-F84A-1FB5-D515-17D89BC83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8" y="1371589"/>
            <a:ext cx="7315215" cy="54864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B016C-B318-3EF4-998E-FD95D27F9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94" y="2138706"/>
            <a:ext cx="604636" cy="6046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8AC86B-5D04-BDEE-9517-C3383114C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577" y="2153092"/>
            <a:ext cx="604636" cy="5989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3811D3E-B97A-C310-C56D-96D0003D81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660" y="2138706"/>
            <a:ext cx="604636" cy="6146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5399675-6357-90F7-3199-BFCB178187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499" y="2148753"/>
            <a:ext cx="604636" cy="6046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2FFBC97-4DB3-4B9B-E374-2550AC6713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395" y="2272458"/>
            <a:ext cx="380349" cy="38034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D0B2D4A-48A8-3C36-179D-96F46E6354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0119" y="2248231"/>
            <a:ext cx="491717" cy="39563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2A7709F-FCA9-F794-5675-2125861A9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3337" y="2270643"/>
            <a:ext cx="548177" cy="3407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19D80F-635C-B4C6-4AD9-9C12C12812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6353" y="2185623"/>
            <a:ext cx="376544" cy="48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2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17160-088E-898D-FA27-A2F9F6C52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64852A9-7386-0EE3-DDEC-D6487C7380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13" y="1371589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CD66A0-D99E-5440-0E33-BDEAAA3F7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Tetramer+ CD4 T cell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7FB949-74AC-6CFD-3C66-0CE5679BCB82}"/>
              </a:ext>
            </a:extLst>
          </p:cNvPr>
          <p:cNvSpPr txBox="1"/>
          <p:nvPr/>
        </p:nvSpPr>
        <p:spPr>
          <a:xfrm>
            <a:off x="1095054" y="562181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Extremely low??</a:t>
            </a:r>
          </a:p>
          <a:p>
            <a:r>
              <a:rPr lang="en-AU" sz="1200" b="1" dirty="0">
                <a:solidFill>
                  <a:srgbClr val="FF0000"/>
                </a:solidFill>
              </a:rPr>
              <a:t>11171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2B1FE-6DA6-EC5E-AC6D-409B36E40AD7}"/>
              </a:ext>
            </a:extLst>
          </p:cNvPr>
          <p:cNvSpPr txBox="1"/>
          <p:nvPr/>
        </p:nvSpPr>
        <p:spPr>
          <a:xfrm>
            <a:off x="4978580" y="212017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Extremely high??</a:t>
            </a:r>
          </a:p>
          <a:p>
            <a:r>
              <a:rPr lang="en-AU" sz="1200" b="1" dirty="0">
                <a:solidFill>
                  <a:srgbClr val="FF0000"/>
                </a:solidFill>
              </a:rPr>
              <a:t>10236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4B856-64E2-05E1-DBC3-0352CA2A05C4}"/>
              </a:ext>
            </a:extLst>
          </p:cNvPr>
          <p:cNvSpPr txBox="1"/>
          <p:nvPr/>
        </p:nvSpPr>
        <p:spPr>
          <a:xfrm>
            <a:off x="7332459" y="567044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TM&gt;TMd21=SOL&gt;IC</a:t>
            </a:r>
            <a:endParaRPr lang="en-AU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4CEE14-291D-FA87-4B26-72EB6A1315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709" y="4699663"/>
            <a:ext cx="662150" cy="6621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728463-35EA-8DDA-F0BB-B0DC9A217E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865" y="5066583"/>
            <a:ext cx="1395640" cy="5989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70BAA3-763B-6B73-28E0-8BE6E8C31E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087" y="4299084"/>
            <a:ext cx="1421196" cy="6850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FBB371-B1DA-844C-15F2-B04B0680D3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709" y="4302614"/>
            <a:ext cx="1362952" cy="136295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9D8A27F-9A2A-6A64-EBAE-E59DB3E541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725" y="4538879"/>
            <a:ext cx="857370" cy="8573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67430DC-5FED-AA04-C1EA-B0EDA97A23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3250" y="4325738"/>
            <a:ext cx="722737" cy="58151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548281E-178F-81B7-FA6E-EA4191D2E0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3250" y="5131543"/>
            <a:ext cx="740869" cy="4605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D3073D1-037B-FD18-A88F-3AC74C7107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5278" y="4765290"/>
            <a:ext cx="411015" cy="53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21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9418D-5724-237A-D7F3-0328E2D8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6604F-214D-9B06-E91A-B7CFB176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Survival of Tetramer+ CD4 T cell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C2CCEB-2882-ADA0-0884-932F348971CD}"/>
              </a:ext>
            </a:extLst>
          </p:cNvPr>
          <p:cNvSpPr txBox="1"/>
          <p:nvPr/>
        </p:nvSpPr>
        <p:spPr>
          <a:xfrm>
            <a:off x="7287987" y="598355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TM&gt;TMd21=SOL&gt;IC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C61DDA-965B-CCBD-5AC8-C49D2F77C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FF1ABD-7AC1-7F9E-5F20-E69681C25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709" y="4699663"/>
            <a:ext cx="662150" cy="662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BFEB10-79F4-1AC3-19B9-6BA11AE3B6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865" y="5066583"/>
            <a:ext cx="1395640" cy="5989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C3D72C-B3B9-3218-912A-E4D921A00B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087" y="4299084"/>
            <a:ext cx="1421196" cy="6850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BFB5C2-666C-E841-8456-87D13FEFF2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709" y="4302614"/>
            <a:ext cx="1362952" cy="13629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C250E2-6BF2-9E04-42FD-A919A2E5EB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6725" y="4538879"/>
            <a:ext cx="857370" cy="8573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3FC1B31-D86D-638F-225B-58D3D47E85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50" y="4325738"/>
            <a:ext cx="722737" cy="5815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1BF8CC8-219B-8B37-B7AC-EB091FE06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3250" y="5131543"/>
            <a:ext cx="740869" cy="4605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6C7A0B2-62A2-5AD4-2884-F6C44B9C3B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5278" y="4765290"/>
            <a:ext cx="411015" cy="53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67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3EA5-53E2-8293-7E85-63E91B8C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01BE1E-BA96-373B-41D2-8099444C3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2185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17C172-5839-DDD0-2C7D-E71826BC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Tetramer+ CD8 T cell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E54A7-2464-71BF-7F7E-8AF0AA69F01C}"/>
              </a:ext>
            </a:extLst>
          </p:cNvPr>
          <p:cNvSpPr txBox="1"/>
          <p:nvPr/>
        </p:nvSpPr>
        <p:spPr>
          <a:xfrm>
            <a:off x="7145161" y="519623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 IC &gt;TMd21&gt;SOL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F640C9-5809-D334-B5E6-F84D86BC5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907" y="3919731"/>
            <a:ext cx="1068254" cy="10402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E39572-5796-69E1-EEB8-4BD0684F17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399" y="3917786"/>
            <a:ext cx="648826" cy="5923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BC0133-951F-FE41-0C77-EDF43CE4A4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436" y="3917786"/>
            <a:ext cx="841229" cy="8340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76D05F-3641-3E68-8A85-161E3C0F51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574" y="3917785"/>
            <a:ext cx="1362952" cy="13629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239CFA-6769-A63E-7EBD-904C1D9162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1590" y="4154050"/>
            <a:ext cx="857370" cy="8573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EA6E91A-DEE5-DBDC-7514-44D43B5DF3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1740" y="4106247"/>
            <a:ext cx="627436" cy="5048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1C74072-C112-4CAD-12ED-7BC0DBC02B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7556" y="4003781"/>
            <a:ext cx="620576" cy="38576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F12748B-6417-61A1-7259-DE257A8208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9182" y="4106247"/>
            <a:ext cx="659703" cy="66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44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5BEF1-E703-2CAF-9181-5E96FDC4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257AE-5BBF-1D61-0EAD-F5DAF25DE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Survival of Tetramer+ CD8 T cell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C2B914-1F22-DB1C-2D20-5C504966F1FF}"/>
              </a:ext>
            </a:extLst>
          </p:cNvPr>
          <p:cNvSpPr txBox="1"/>
          <p:nvPr/>
        </p:nvSpPr>
        <p:spPr>
          <a:xfrm>
            <a:off x="8106324" y="551981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Similar decay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0C168-A5CE-6B1A-9297-8400DECC9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2DE585-9FCE-7436-6662-B9282D604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688" y="4781423"/>
            <a:ext cx="604636" cy="6046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96D7DC-9F78-6F33-3E35-26E2016D3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771" y="4795809"/>
            <a:ext cx="604636" cy="5989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5A9262-C799-33B5-E53C-034B398815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854" y="4781423"/>
            <a:ext cx="604636" cy="6146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DA821B4-2B62-61B5-5FFE-BA620D59D5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693" y="4791470"/>
            <a:ext cx="604636" cy="6046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78D1CBC-7BF3-09AC-5BC9-EF7B2E716D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2589" y="4915175"/>
            <a:ext cx="380349" cy="3803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9EE09F8-3EDC-ABF0-2599-40B6EC7253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0313" y="4890948"/>
            <a:ext cx="491717" cy="3956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DB5E090-62B6-FEAC-3BE0-A93F9BE722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3531" y="4913360"/>
            <a:ext cx="548177" cy="3407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527B481-09C7-28F2-D9AC-EFAF1B273A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56547" y="4828340"/>
            <a:ext cx="376544" cy="48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430E08-7C59-935E-3B62-12513310D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57B723-1301-1ADE-11F3-5689D969F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Tet+ CD4 effector phenotype (%)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D6F2E-22D9-125F-8E5B-DB896E96842B}"/>
              </a:ext>
            </a:extLst>
          </p:cNvPr>
          <p:cNvSpPr txBox="1"/>
          <p:nvPr/>
        </p:nvSpPr>
        <p:spPr>
          <a:xfrm>
            <a:off x="7332151" y="5256829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TM&gt;TMd21&gt;SOL&gt;IC</a:t>
            </a:r>
            <a:endParaRPr lang="en-AU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1FE8D4-E4F1-3636-66C5-AE5B149E6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444" y="3937688"/>
            <a:ext cx="648826" cy="5923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A9BA01-D5FA-AFBB-906E-E24FE2FF46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353" y="3926929"/>
            <a:ext cx="828348" cy="8180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54EED18-27D2-E548-A649-5E60FD8865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224" y="3926929"/>
            <a:ext cx="1068254" cy="10402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CD307AF-F506-35B1-EABC-AEA05A9DA9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590" y="3926929"/>
            <a:ext cx="1362952" cy="136295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E0B9DC-4D50-BD0A-74D7-766F1A94AE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9606" y="4163194"/>
            <a:ext cx="857370" cy="8573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C5763F-2286-792F-E159-7F4C23457B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5528" y="4115391"/>
            <a:ext cx="796764" cy="62959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7C011E4-C25D-6B1D-C49C-292889D3E4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8094" y="4062104"/>
            <a:ext cx="711581" cy="53796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1984974-FD66-6D94-AD22-C1F7CFB1BD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47576" y="3978174"/>
            <a:ext cx="516436" cy="48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60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D750-A087-C96E-C7F5-6BBB41EE3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758A14-ED6B-A810-9B56-AFE4D4D05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4E5D09-982A-585C-2455-15A829B7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Tet+ CD4 effector cell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709AA-8571-67AC-39E5-7B9A0FA5DBB3}"/>
              </a:ext>
            </a:extLst>
          </p:cNvPr>
          <p:cNvSpPr txBox="1"/>
          <p:nvPr/>
        </p:nvSpPr>
        <p:spPr>
          <a:xfrm>
            <a:off x="7315215" y="5221808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TM&gt;TMd21&gt;SOL&gt;IC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740A3B-526A-F7F9-6E69-BA8BA3BF4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724" y="3937688"/>
            <a:ext cx="648826" cy="5923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A3336C-62D8-36D8-5EF3-F919DD29E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33" y="3926929"/>
            <a:ext cx="828348" cy="8180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851085-9491-BC92-A982-AAEB3F8D56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504" y="3926929"/>
            <a:ext cx="1068254" cy="10402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8BF39A-C3A5-C526-EF0B-1ED5C6D5E9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870" y="3926929"/>
            <a:ext cx="1362952" cy="13629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B8AF6E1-66CE-5858-46A3-C0C8FA8CAE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3886" y="4163194"/>
            <a:ext cx="857370" cy="8573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8738D43-6D8C-BEC0-635F-6EAAEC1D8C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9808" y="4115391"/>
            <a:ext cx="796764" cy="6295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FCDB5CB-2DF9-632C-06AB-F33B500977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2374" y="4062104"/>
            <a:ext cx="711581" cy="5379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BC6ACE9-C74B-EB41-F594-7706D31289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01856" y="3978174"/>
            <a:ext cx="516436" cy="48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05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245A-56EF-EB05-CBD1-2F253F27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AB36C5-5AD2-E2BE-F2F2-C0FCFF7A8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C63964-B353-C982-F0E3-7A6DDD54B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Tet+ CD4 effector survival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DB086-F119-EAE6-5B6F-8CE1BC1B420D}"/>
              </a:ext>
            </a:extLst>
          </p:cNvPr>
          <p:cNvSpPr txBox="1"/>
          <p:nvPr/>
        </p:nvSpPr>
        <p:spPr>
          <a:xfrm>
            <a:off x="7324552" y="5491119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TM&gt;SOL&gt;TMd21&gt;IC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ABB5C5-5FDF-ADA8-9E92-C9C1D40E7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8793" y="4231120"/>
            <a:ext cx="648826" cy="5923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BD90F7-22B5-B5CF-9D6E-63D877968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715" y="4225380"/>
            <a:ext cx="1068254" cy="1029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1E9851-1DC9-08A0-3BF5-34A2CE8CA5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07" y="4238546"/>
            <a:ext cx="828348" cy="8180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D6D8C4-DF5C-D67C-05C7-DE7A48D98E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939" y="4220361"/>
            <a:ext cx="1362952" cy="13629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5375FB8-2853-6EA0-D6E3-A907E88F0D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955" y="4456626"/>
            <a:ext cx="857370" cy="8573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C71F48-0B8C-16C4-8F75-C16EBFC2F5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7771" y="4334966"/>
            <a:ext cx="669061" cy="5286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223ACDA-6FB3-DF89-AFF0-58977B17AB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5361" y="4377722"/>
            <a:ext cx="740962" cy="6102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71C662D-4F0C-95A8-C454-E96A84A538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56925" y="4271606"/>
            <a:ext cx="516436" cy="48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33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354C1-00B4-643B-85BE-07BCA9AFB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716110-E4DC-F4A8-B4E5-F3E3CC9C7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6EC034-A836-6252-AAF8-7982162B6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Tet+ CD8 effector phenotype (%)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19509-6EAF-5A98-E155-3D31E3E09152}"/>
              </a:ext>
            </a:extLst>
          </p:cNvPr>
          <p:cNvSpPr txBox="1"/>
          <p:nvPr/>
        </p:nvSpPr>
        <p:spPr>
          <a:xfrm>
            <a:off x="7315215" y="535871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TM&gt;TMd21&gt;SOL=IC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7BA06C-97E8-E2B9-0EAD-FD5D41210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120" y="4751897"/>
            <a:ext cx="822679" cy="395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8F6C43-7FAC-D64B-A0A5-ECBE52EEA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452" y="4107101"/>
            <a:ext cx="828348" cy="395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E1A9F4-B4A2-E06E-0F96-164672428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2323" y="4107100"/>
            <a:ext cx="1068254" cy="10402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07E008-40E5-3ECB-4C3D-56B77B9292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689" y="4107100"/>
            <a:ext cx="1362952" cy="13629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EC625C-E591-9204-B4E0-1F81CF047A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0705" y="4343365"/>
            <a:ext cx="857370" cy="8573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774A58-4A77-4D86-5E11-AABC4859F6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6627" y="4295562"/>
            <a:ext cx="796764" cy="62959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C6B3255-5B34-CD67-B343-1D15C5178D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9913" y="4064487"/>
            <a:ext cx="579425" cy="4380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203A8C4-A97A-2D32-FB06-A8E65B056C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1407" y="4704775"/>
            <a:ext cx="523060" cy="49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2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A091D-FA45-FAF5-E780-4803A1D83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87A6-9BA5-6CD4-CCE3-39CD8CE4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Tet+ CD8 effector cell number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CE5EC-9F4B-1EE3-56C0-06E1E5517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6AA18C-ABBA-02E3-E5A8-3C10B9212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085" y="5410355"/>
            <a:ext cx="1045056" cy="3954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C86F17-9B9D-4B78-BA0A-F27870C4D2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548" y="4921511"/>
            <a:ext cx="1056593" cy="3954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52D5FE-5F5B-0768-1C1D-83D0F95231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888" y="4432666"/>
            <a:ext cx="1068254" cy="3954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1F0CBF-401D-4FDB-FEA1-B320944E3B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54" y="4432666"/>
            <a:ext cx="1362952" cy="13629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8B96B0-C68A-51EA-3F53-A22F5760D6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5270" y="4668931"/>
            <a:ext cx="857370" cy="8573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3FFD12-72CC-1D42-F0B7-FDBB572F85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4528" y="4426587"/>
            <a:ext cx="610349" cy="3954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9078649-09B8-5059-EB4D-BE02C6EAAB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9990" y="4905385"/>
            <a:ext cx="551243" cy="3954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DD209F4-5D07-74EC-87F0-C781F66702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58173" y="5410355"/>
            <a:ext cx="523060" cy="38526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F2A491B-B1EE-6BC9-10E7-B00FDC71D3F2}"/>
              </a:ext>
            </a:extLst>
          </p:cNvPr>
          <p:cNvSpPr txBox="1"/>
          <p:nvPr/>
        </p:nvSpPr>
        <p:spPr>
          <a:xfrm>
            <a:off x="7379682" y="5714290"/>
            <a:ext cx="60943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TM&gt;TMd21=SOL=IC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169956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8E298-CD7B-CBE8-2EC5-EB99399A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2BC5-65EA-CCF6-2B81-3A2F3008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Tet+ CD8 effector survival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DC51BD-8C0C-467A-5E3F-96427C1654AB}"/>
              </a:ext>
            </a:extLst>
          </p:cNvPr>
          <p:cNvSpPr txBox="1"/>
          <p:nvPr/>
        </p:nvSpPr>
        <p:spPr>
          <a:xfrm>
            <a:off x="8445481" y="572343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dirty="0"/>
              <a:t>similar decay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C457C-0A3D-2FD0-8ED2-869FBAC7E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89"/>
            <a:ext cx="7315215" cy="5486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323BE8-CD1D-3D75-6173-D10108757B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937" y="5108750"/>
            <a:ext cx="604636" cy="604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59A29D-F797-C411-E71E-71F66F2B2B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020" y="5123136"/>
            <a:ext cx="604636" cy="598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0F4DE7-F73F-1E29-0A2E-C629727C81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4103" y="5108750"/>
            <a:ext cx="604636" cy="6146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5B2577-E2C5-9DEE-9EFD-7128018BE3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942" y="5118797"/>
            <a:ext cx="604636" cy="6046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F4C5EA-8758-053E-3412-A0C5C16408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2838" y="5242502"/>
            <a:ext cx="380349" cy="3803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05228D-E21C-694E-02AA-7E5CBD8EEF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0562" y="5218275"/>
            <a:ext cx="491717" cy="3956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FE3ECA7-7390-00C1-167A-E2C4BAE5C1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3780" y="5240687"/>
            <a:ext cx="548177" cy="3407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A39AAAD-834E-AFA0-16F6-35F664CD7E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6796" y="5155667"/>
            <a:ext cx="376544" cy="48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1368EF-33DF-86B9-5AB2-13FC58185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678367"/>
              </p:ext>
            </p:extLst>
          </p:nvPr>
        </p:nvGraphicFramePr>
        <p:xfrm>
          <a:off x="843756" y="731520"/>
          <a:ext cx="10251821" cy="539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1421">
                  <a:extLst>
                    <a:ext uri="{9D8B030D-6E8A-4147-A177-3AD203B41FA5}">
                      <a16:colId xmlns:a16="http://schemas.microsoft.com/office/drawing/2014/main" val="25443309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461614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77439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dirty="0"/>
                        <a:t>Parameter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dirty="0"/>
                        <a:t>CD4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dirty="0"/>
                        <a:t>CD8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139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Bulk T-cell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518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 dirty="0"/>
                        <a:t>Tetramer⁺ cell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542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Tetramer⁺ survival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037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Effector phenotype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215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Effector-cell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09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400"/>
                        <a:t>Effector-cell survival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48929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BC2F50E-24AA-7799-E979-80BB91847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899" y="1280635"/>
            <a:ext cx="1497780" cy="5663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742D16-B97F-C893-5E50-9AEA0384E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280" y="1237007"/>
            <a:ext cx="1613152" cy="6100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40ED62-DFA0-4AA8-F504-E33FD55B0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280" y="5414027"/>
            <a:ext cx="1626014" cy="6148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A21484-767B-8BD0-608B-45A46FB34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899" y="2113886"/>
            <a:ext cx="1529780" cy="6439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67E451-A50A-C040-4215-99138FB0E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899" y="2945179"/>
            <a:ext cx="1529780" cy="6439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F87416A-A787-C53E-4AFA-508F6A134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323" y="3742329"/>
            <a:ext cx="1715228" cy="7196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9371B9-AA81-7425-53E8-AB99545C04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467" y="4561235"/>
            <a:ext cx="1715228" cy="7089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0B21897-8448-A657-8C04-918C037D91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7467" y="5370798"/>
            <a:ext cx="1706084" cy="6830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42AA3B1-8A34-9981-CC4C-46932530C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280" y="2945179"/>
            <a:ext cx="1626014" cy="61487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5A0B82A-7381-330E-C8C3-24767FC6A6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386" y="4533803"/>
            <a:ext cx="1715228" cy="70049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F8D6AF2-B153-E2E5-D81E-6CD59D34D4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386" y="2069464"/>
            <a:ext cx="1715228" cy="66042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F4F2735-D47E-69F1-2E8D-42A138C6C0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8387" y="3725379"/>
            <a:ext cx="1671804" cy="66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66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179</Words>
  <Application>Microsoft Office PowerPoint</Application>
  <PresentationFormat>Widescreen</PresentationFormat>
  <Paragraphs>42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Kinetics of CD4 and CD8 with different vaccine formulation</vt:lpstr>
      <vt:lpstr>No difference in the total bulk CD4#</vt:lpstr>
      <vt:lpstr>No difference in the total bulk CD8#</vt:lpstr>
      <vt:lpstr>Tetramer+ CD4 T cell</vt:lpstr>
      <vt:lpstr>Survival of Tetramer+ CD4 T cell</vt:lpstr>
      <vt:lpstr>Tetramer+ CD8 T cell</vt:lpstr>
      <vt:lpstr>Survival of Tetramer+ CD8 T cell</vt:lpstr>
      <vt:lpstr>Tet+ CD4 effector phenotype (%)</vt:lpstr>
      <vt:lpstr>Tet+ CD4 effector cell number</vt:lpstr>
      <vt:lpstr>Tet+ CD4 effector survival</vt:lpstr>
      <vt:lpstr>Tet+ CD8 effector phenotype (%)</vt:lpstr>
      <vt:lpstr>Tet+ CD8 effector cell number</vt:lpstr>
      <vt:lpstr>Tet+ CD8 effector survival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Arnold Reynaldi</dc:creator>
  <cp:lastModifiedBy>Arnold Reynaldi</cp:lastModifiedBy>
  <cp:revision>6</cp:revision>
  <dcterms:created xsi:type="dcterms:W3CDTF">2026-09-02T00:25:59Z</dcterms:created>
  <dcterms:modified xsi:type="dcterms:W3CDTF">2026-09-03T06:44:16Z</dcterms:modified>
</cp:coreProperties>
</file>